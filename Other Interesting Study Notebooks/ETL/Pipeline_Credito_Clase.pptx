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56" y="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D98-4556-8CC8-3CF968B03B03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98-4556-8CC8-3CF968B03B03}"/>
              </c:ext>
            </c:extLst>
          </c:dPt>
          <c:dPt>
            <c:idx val="2"/>
            <c:invertIfNegative val="0"/>
            <c:bubble3D val="0"/>
            <c:spPr>
              <a:solidFill>
                <a:srgbClr val="00FF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98-4556-8CC8-3CF968B03B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Modelo Base
(Datos Crudos)</c:v>
                </c:pt>
                <c:pt idx="1">
                  <c:v>Undersampling
Simple</c:v>
                </c:pt>
                <c:pt idx="2">
                  <c:v>Pipeline Completo
(MICE+SMOTEENN)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</c:v>
                </c:pt>
                <c:pt idx="1">
                  <c:v>0.91</c:v>
                </c:pt>
                <c:pt idx="2">
                  <c:v>0.99939999999999996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D98-4556-8CC8-3CF968B03B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C12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10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7048" y="0"/>
            <a:ext cx="9144" cy="5143500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054096" y="0"/>
            <a:ext cx="9144" cy="5143500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581144" y="0"/>
            <a:ext cx="9144" cy="5143500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108192" y="0"/>
            <a:ext cx="9144" cy="5143500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635240" y="0"/>
            <a:ext cx="9144" cy="5143500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0" y="1280160"/>
            <a:ext cx="9144000" cy="9144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0" y="2560320"/>
            <a:ext cx="9144000" cy="9144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0" y="3840480"/>
            <a:ext cx="9144000" cy="9144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5943600" y="457200"/>
            <a:ext cx="2834640" cy="4206240"/>
          </a:xfrm>
          <a:prstGeom prst="rect">
            <a:avLst/>
          </a:prstGeom>
          <a:solidFill>
            <a:srgbClr val="0C1220">
              <a:alpha val="9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5989320" y="502920"/>
            <a:ext cx="27432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5989320" y="525780"/>
            <a:ext cx="22860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8439912" y="4567428"/>
            <a:ext cx="27432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691372" y="4361688"/>
            <a:ext cx="22860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03504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data_quality 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pipeline.run()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SMOTEENN()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roc_auc → 0.9994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IQR_clip(df_train)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KNNImputer(k=5)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486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DE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57200" y="1280160"/>
            <a:ext cx="5212080" cy="914400"/>
          </a:xfrm>
          <a:prstGeom prst="rect">
            <a:avLst/>
          </a:prstGeom>
          <a:noFill/>
          <a:ln/>
          <a:effectLst>
            <a:outerShdw blurRad="254000" dist="50800" dir="16200000" algn="bl" rotWithShape="0">
              <a:srgbClr val="00D4FF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CALIDAD DE DATOS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502920" y="22311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Mitigación de Desbalance de Clases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2834640"/>
            <a:ext cx="4846320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66344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Originación de Crédito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3474720"/>
            <a:ext cx="1481328" cy="292608"/>
          </a:xfrm>
          <a:prstGeom prst="rect">
            <a:avLst/>
          </a:prstGeom>
          <a:solidFill>
            <a:srgbClr val="0C122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02920" y="347472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CIENCIA DE DATOS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75688" y="3474720"/>
            <a:ext cx="1481328" cy="292608"/>
          </a:xfrm>
          <a:prstGeom prst="rect">
            <a:avLst/>
          </a:prstGeom>
          <a:solidFill>
            <a:srgbClr val="0C122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2075688" y="347472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MLOps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48456" y="3474720"/>
            <a:ext cx="1481328" cy="292608"/>
          </a:xfrm>
          <a:prstGeom prst="rect">
            <a:avLst/>
          </a:prstGeom>
          <a:solidFill>
            <a:srgbClr val="0C122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3648456" y="347472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RIESGO FINANCIERO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4389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Eliuth Misraim Rojas Villavicencio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01_CONTEXTO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Problema en Originación de Crédito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77640" cy="3200400"/>
          </a:xfrm>
          <a:prstGeom prst="rect">
            <a:avLst/>
          </a:prstGeom>
          <a:solidFill>
            <a:srgbClr val="0C1220"/>
          </a:solidFill>
          <a:ln w="12700">
            <a:solidFill>
              <a:srgbClr val="FF456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7764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456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FALSOS NEGATIVOS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Impago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365760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atípicos en ingresos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sesgan los modelos al alza.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créditos 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insolventes.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3977640" cy="3200400"/>
          </a:xfrm>
          <a:prstGeom prst="rect">
            <a:avLst/>
          </a:prstGeom>
          <a:solidFill>
            <a:srgbClr val="0C1220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397764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6B3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77840" y="1600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LEAKAGE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965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Filtración de Información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331720"/>
            <a:ext cx="365760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Imputar o sobremuestrear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split train/test.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validación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optimistas pero irreales.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02_ARQUITECTURA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Flujo del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560320" cy="1508760"/>
          </a:xfrm>
          <a:prstGeom prst="rect">
            <a:avLst/>
          </a:prstGeom>
          <a:solidFill>
            <a:srgbClr val="0C1220"/>
          </a:solidFill>
          <a:ln w="12700">
            <a:solidFill>
              <a:srgbClr val="475569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5603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41148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48132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SINTÉTICO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76272"/>
            <a:ext cx="233172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Controlado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016252"/>
            <a:ext cx="256032" cy="36576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200400" y="1280160"/>
            <a:ext cx="2560320" cy="150876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200400" y="1280160"/>
            <a:ext cx="2560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337560" y="1536192"/>
            <a:ext cx="41148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33756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148132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LIMPIEZA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ESTRUCTURAL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176272"/>
            <a:ext cx="233172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337560" y="22677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+ Tipos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2016252"/>
            <a:ext cx="256032" cy="36576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6035040" y="1280160"/>
            <a:ext cx="2560320" cy="1508760"/>
          </a:xfrm>
          <a:prstGeom prst="rect">
            <a:avLst/>
          </a:prstGeom>
          <a:solidFill>
            <a:srgbClr val="0C1220"/>
          </a:solidFill>
          <a:ln w="12700">
            <a:solidFill>
              <a:srgbClr val="A855F7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035040" y="1280160"/>
            <a:ext cx="25603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172200" y="1536192"/>
            <a:ext cx="41148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17220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75120" y="148132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IMPUTACIÓN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176272"/>
            <a:ext cx="233172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172200" y="22677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/ Mediana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2560320" cy="1508760"/>
          </a:xfrm>
          <a:prstGeom prst="rect">
            <a:avLst/>
          </a:prstGeom>
          <a:solidFill>
            <a:srgbClr val="0C1220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365760" y="3063240"/>
            <a:ext cx="25603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502920" y="3319272"/>
            <a:ext cx="41148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50292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32644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CLIP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959352"/>
            <a:ext cx="233172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502920" y="40507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Acotamiento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26080" y="3799332"/>
            <a:ext cx="256032" cy="36576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3200400" y="3063240"/>
            <a:ext cx="2560320" cy="1508760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88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3200400" y="3063240"/>
            <a:ext cx="256032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3337560" y="3319272"/>
            <a:ext cx="41148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333756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840480" y="32644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SMOTEENN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37560" y="3959352"/>
            <a:ext cx="233172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3337560" y="40507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0720" y="3799332"/>
            <a:ext cx="256032" cy="36576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6035040" y="3063240"/>
            <a:ext cx="2560320" cy="1508760"/>
          </a:xfrm>
          <a:prstGeom prst="rect">
            <a:avLst/>
          </a:prstGeom>
          <a:solidFill>
            <a:srgbClr val="0C1220"/>
          </a:solidFill>
          <a:ln w="12700">
            <a:solidFill>
              <a:srgbClr val="00BF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6035040" y="3063240"/>
            <a:ext cx="2560320" cy="3657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6172200" y="3319272"/>
            <a:ext cx="411480" cy="41148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617220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675120" y="32644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72200" y="3959352"/>
            <a:ext cx="233172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6172200" y="40507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425697" y="2798064"/>
            <a:ext cx="45719" cy="25603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03_DATOS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Sintético con Ruido Industrial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100584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9202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1,500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1920240" cy="1005840"/>
          </a:xfrm>
          <a:prstGeom prst="rect">
            <a:avLst/>
          </a:prstGeom>
          <a:solidFill>
            <a:srgbClr val="0C1220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2468880" y="1325880"/>
            <a:ext cx="192024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468880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 / 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Clases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1920240" cy="1005840"/>
          </a:xfrm>
          <a:prstGeom prst="rect">
            <a:avLst/>
          </a:prstGeom>
          <a:solidFill>
            <a:srgbClr val="0C1220"/>
          </a:solidFill>
          <a:ln w="12700">
            <a:solidFill>
              <a:srgbClr val="A855F7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572000" y="1325880"/>
            <a:ext cx="19202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572000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325880"/>
            <a:ext cx="1920240" cy="1005840"/>
          </a:xfrm>
          <a:prstGeom prst="rect">
            <a:avLst/>
          </a:prstGeom>
          <a:solidFill>
            <a:srgbClr val="0C1220"/>
          </a:solidFill>
          <a:ln w="12700">
            <a:solidFill>
              <a:srgbClr val="FF456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675120" y="1325880"/>
            <a:ext cx="192024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675120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Ruido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4023360" cy="2286000"/>
          </a:xfrm>
          <a:prstGeom prst="rect">
            <a:avLst/>
          </a:prstGeom>
          <a:solidFill>
            <a:srgbClr val="0C1220"/>
          </a:solidFill>
          <a:ln w="12700">
            <a:solidFill>
              <a:srgbClr val="FF456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402336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54864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RUIDO INYECTADO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090672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NaN estructurales (8% ingreso, 5% antigüedad)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Strings en campo numérico (score_buro)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Valores imposibles (edad: -12, 115 años)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Outlier extremo (ingreso: $99,999,999)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3 registros duplicados exactos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560320"/>
            <a:ext cx="416052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4754880" y="267004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910328" y="2670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5065776" y="2670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754880" y="2852928"/>
            <a:ext cx="3886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Bug Corregido: score_buro
</a:t>
            </a: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df["score_buro"] = np.clip(
  (df["score_buro"] * 150)
  + 600, 300, 850
).astype(int)
</a:t>
            </a: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Ruido controlado
</a:t>
            </a: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df.loc[15, "ingreso"] = </a:t>
            </a: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99_999_999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df.loc[88, "edad"] =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04_SPLIT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Regla de Oro: Anti-Data Leakage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solidFill>
            <a:srgbClr val="0C1220"/>
          </a:solidFill>
          <a:ln w="25400">
            <a:solidFill>
              <a:srgbClr val="00D4FF"/>
            </a:solidFill>
            <a:prstDash val="solid"/>
          </a:ln>
          <a:effectLst>
            <a:outerShdw blurRad="254000" dist="50800" dir="16200000" algn="bl" rotWithShape="0">
              <a:srgbClr val="00D4FF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set de PRUEBA (test) debe ser tratado como el futuro absoluto.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métrica estadística de imputación o balanceo puede originarse del test set.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2286000" cy="1463040"/>
          </a:xfrm>
          <a:prstGeom prst="rect">
            <a:avLst/>
          </a:prstGeom>
          <a:solidFill>
            <a:srgbClr val="0C1220"/>
          </a:solidFill>
          <a:ln w="12700">
            <a:solidFill>
              <a:srgbClr val="475569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228600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CRUDO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(1,503 filas)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2971800"/>
            <a:ext cx="2468880" cy="146304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246120" y="2971800"/>
            <a:ext cx="24688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246120" y="32918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SET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(75%)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2971800"/>
            <a:ext cx="2560320" cy="1463040"/>
          </a:xfrm>
          <a:prstGeom prst="rect">
            <a:avLst/>
          </a:prstGeom>
          <a:solidFill>
            <a:srgbClr val="0C1220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080760" y="2971800"/>
            <a:ext cx="25603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080760" y="3291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SET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(25%)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88920" y="3511296"/>
            <a:ext cx="411480" cy="36576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788920" y="3749040"/>
            <a:ext cx="411480" cy="36576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291840" y="4480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stratify=y_raw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4480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SÓLO lectura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05_LIMPIEZA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41148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Limpieza Estructural e Integridad de Tipos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657600" cy="155448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3657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Remoción de Duplicados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TRAIN. Nunca tocar el test set. Se alinean los índices de X_train e y_train para mantener coherencia.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0" y="1261872"/>
            <a:ext cx="457200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343400" y="137160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498848" y="137160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654296" y="137160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343400" y="155448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X_train.drop_duplicates()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 = y_train.loc[X_train.index]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44952"/>
            <a:ext cx="3657600" cy="1554480"/>
          </a:xfrm>
          <a:prstGeom prst="rect">
            <a:avLst/>
          </a:prstGeom>
          <a:solidFill>
            <a:srgbClr val="0C1220"/>
          </a:solidFill>
          <a:ln w="12700">
            <a:solidFill>
              <a:srgbClr val="A855F7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65760" y="3044952"/>
            <a:ext cx="36576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48640" y="3182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Coerción de Tipos Numéricos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59359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strings corruptos ("720_PUNTOS", "SIN_HISTORIAL") a NaN mediante pd.to_numeric(errors='coerce').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6240" y="3044952"/>
            <a:ext cx="457200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343400" y="31546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498848" y="315468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654296" y="315468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343400" y="333756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corregir_tipos_numericos(df):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col in df.columns: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df[col].dtype == 'object':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df[col] = pd.to_numeric(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df[col], errors='coerce')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06_IMPUTACIÓN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41148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Estrategias Avanzadas de Imputación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651760" cy="3520440"/>
          </a:xfrm>
          <a:prstGeom prst="rect">
            <a:avLst/>
          </a:prstGeom>
          <a:solidFill>
            <a:srgbClr val="0C1220"/>
          </a:solidFill>
          <a:ln w="12700">
            <a:solidFill>
              <a:srgbClr val="475569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265176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SimpleImputer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Estática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237744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Rápido, sin parámetros.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ante outliers.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Ignora relaciones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variables.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25603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502920" y="340156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58368" y="340156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13816" y="340156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SimpleImputer(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strategy='median')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1280160"/>
            <a:ext cx="2651760" cy="352044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154680" y="1280160"/>
            <a:ext cx="26517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291840" y="1417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KNNImputer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17373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Vecinos Cercanos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057400"/>
            <a:ext cx="237744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3291840" y="21214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Considera la estructura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del dataset.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Lento en datasets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291840"/>
            <a:ext cx="25603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337560" y="340156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3493008" y="340156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3648456" y="340156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3337560" y="35844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KNNImputer(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n_neighbors=5,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weights='distance')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1280160"/>
            <a:ext cx="2651760" cy="3520440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88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5989320" y="1280160"/>
            <a:ext cx="265176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126480" y="1417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 MICE 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17373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IterativeImputer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057400"/>
            <a:ext cx="237744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6126480" y="21214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Modela cada variable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función del resto.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Requiere fit solo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train.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3291840"/>
            <a:ext cx="25603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6172200" y="340156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327648" y="340156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6483096" y="340156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6172200" y="35844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IterativeImputer(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max_iter=10,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random_state=42)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07_OUTLIERS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41148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Tratamiento de Outliers: IQR Clipping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754880" cy="1371600"/>
          </a:xfrm>
          <a:prstGeom prst="rect">
            <a:avLst/>
          </a:prstGeom>
          <a:solidFill>
            <a:srgbClr val="0C1220"/>
          </a:solidFill>
          <a:ln w="12700">
            <a:solidFill>
              <a:srgbClr val="FF6B35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75488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FÓRMULA IQR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Q3 - Q1
</a:t>
            </a: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Lím.Inf = Q1 - 1.5 × IQR
Lím.Sup = Q3 + 1.5 × IQR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1325880"/>
            <a:ext cx="34747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5440680" y="143560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5596128" y="143560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751576" y="143560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440680" y="161848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= df_train[col].quantile(0.25)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= df_train[col].quantile(0.75)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Q3 - Q1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df_train_out[col] = np.clip(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df_train_out[col],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Q1 - 1.5*IQR, Q3 + 1.5*IQR)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566928"/>
          </a:xfrm>
          <a:prstGeom prst="rect">
            <a:avLst/>
          </a:prstGeom>
          <a:solidFill>
            <a:srgbClr val="0C1220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0292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🧮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Límites calculados SOLO en Train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310896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se aplican al test sin recalcular. Evita fuga de información.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02152"/>
            <a:ext cx="8412480" cy="566928"/>
          </a:xfrm>
          <a:prstGeom prst="rect">
            <a:avLst/>
          </a:prstGeom>
          <a:solidFill>
            <a:srgbClr val="0C1220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02920" y="35478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✂️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547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Clipping vs Eliminación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77647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registros extremos se acotan al límite. No se pierde información valiosa.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69664"/>
            <a:ext cx="8412480" cy="566928"/>
          </a:xfrm>
          <a:prstGeom prst="rect">
            <a:avLst/>
          </a:prstGeom>
          <a:solidFill>
            <a:srgbClr val="0C1220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02920" y="421538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42153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Corrección lógica previa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444398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Edades imposibles (&lt; 18 o &gt; 90) convertidas a NaN antes del clipping.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08_BALANCEO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41148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Mitigación del Desbalance de Clases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651760" cy="3520440"/>
          </a:xfrm>
          <a:prstGeom prst="rect">
            <a:avLst/>
          </a:prstGeom>
          <a:solidFill>
            <a:srgbClr val="0C1220"/>
          </a:solidFill>
          <a:ln w="12700">
            <a:solidFill>
              <a:srgbClr val="475569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265176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UnderSampling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RandomUnderSampler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237744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clase mayoritaria. Rápido pero DESTRUYE información valiosa de clientes 'buenos'.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25603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02920" y="331012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658368" y="331012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13816" y="331012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02920" y="3493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RandomUnderSampler(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sampling_strategy=0.3)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233672"/>
            <a:ext cx="23774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57200" y="4233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Destructivo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1280160"/>
            <a:ext cx="2651760" cy="352044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154680" y="1280160"/>
            <a:ext cx="26517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291840" y="1417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SMOTE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1755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Sintético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057400"/>
            <a:ext cx="237744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3291840" y="21488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instancias sintéticas en la vecindad lineal de la clase minoritaria (Default).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3200400"/>
            <a:ext cx="25603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337560" y="331012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3493008" y="331012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3648456" y="331012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3337560" y="3493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SMOTE(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random_state=42)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4233672"/>
            <a:ext cx="23774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3291840" y="4233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Sintético puro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0" y="1280160"/>
            <a:ext cx="2651760" cy="3520440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88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5989320" y="1280160"/>
            <a:ext cx="265176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6126480" y="14173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SMOTEENN 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1755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Híbrido Elegido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2057400"/>
            <a:ext cx="2377440" cy="1828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6126480" y="21488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limpieza de fronteras ruidosas (ENN). Preserva integridad y elimina ambigüedades.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35040" y="3200400"/>
            <a:ext cx="25603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6172200" y="331012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6327648" y="331012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6483096" y="331012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6172200" y="3493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SMOTEENN(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random_state=42)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4233672"/>
            <a:ext cx="23774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6126480" y="4233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Pipeline completo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09_DEBUGGING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Bugs Encontrados y Corregidos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FF4560">
              <a:alpha val="70000"/>
            </a:srgbClr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8503920" cy="1115568"/>
          </a:xfrm>
          <a:prstGeom prst="rect">
            <a:avLst/>
          </a:prstGeom>
          <a:solidFill>
            <a:srgbClr val="0C122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850392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 #1 — LÓGICO (Crítico)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3533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score_buro y antiguedad_laboral quedaban IDÉNTICOS. Inutilizaba una feature.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3749040" cy="621792"/>
          </a:xfrm>
          <a:prstGeom prst="rect">
            <a:avLst/>
          </a:prstGeom>
          <a:solidFill>
            <a:srgbClr val="1A0808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75488" y="168249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ANTES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df["score_buro"] = np.abs(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(df["antiguedad_laboral"]*3)+5)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34840" y="1664208"/>
            <a:ext cx="4297680" cy="621792"/>
          </a:xfrm>
          <a:prstGeom prst="rect">
            <a:avLst/>
          </a:prstGeom>
          <a:solidFill>
            <a:srgbClr val="081A0D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453128" y="168249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DESPUÉS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80560" y="184708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df["score_buro"] = np.clip(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(df["score_buro"]*150)+600,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300, 850).astype(int)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8503920" cy="1115568"/>
          </a:xfrm>
          <a:prstGeom prst="rect">
            <a:avLst/>
          </a:prstGeom>
          <a:solidFill>
            <a:srgbClr val="0C122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320040" y="2514600"/>
            <a:ext cx="850392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 #2 — NameError (Crítico)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25877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 en runtime. El bloque de evaluación comparativa no ejecutaba.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98648"/>
            <a:ext cx="3749040" cy="621792"/>
          </a:xfrm>
          <a:prstGeom prst="rect">
            <a:avLst/>
          </a:prstGeom>
          <a:solidFill>
            <a:srgbClr val="1A0808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75488" y="29169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ANTES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30815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evaluar_arquitectura(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RandomForestClassifier(),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X_train_under, y_train_under)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34840" y="2898648"/>
            <a:ext cx="4297680" cy="621792"/>
          </a:xfrm>
          <a:prstGeom prst="rect">
            <a:avLst/>
          </a:prstGeom>
          <a:solidFill>
            <a:srgbClr val="081A0D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453128" y="29169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DESPUÉS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308152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evaluar_arquitectura_robusta(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RandomForestClassifier(),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X_train_under, y_train_under)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8503920" cy="1115568"/>
          </a:xfrm>
          <a:prstGeom prst="rect">
            <a:avLst/>
          </a:prstGeom>
          <a:solidFill>
            <a:srgbClr val="0C122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85039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 #3 — Visual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38221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segundo ylabel() sobreescribía al primero. El eje X quedaba sin etiqueta.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133088"/>
            <a:ext cx="3749040" cy="621792"/>
          </a:xfrm>
          <a:prstGeom prst="rect">
            <a:avLst/>
          </a:prstGeom>
          <a:solidFill>
            <a:srgbClr val="1A0808"/>
          </a:solidFill>
          <a:ln w="12700">
            <a:solidFill>
              <a:srgbClr val="FF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75488" y="41513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ANTES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" y="43159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plt.ylabel('Clase Real')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plt.ylabel('Clase Predicha')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34840" y="4133088"/>
            <a:ext cx="4297680" cy="621792"/>
          </a:xfrm>
          <a:prstGeom prst="rect">
            <a:avLst/>
          </a:prstGeom>
          <a:solidFill>
            <a:srgbClr val="081A0D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4453128" y="415137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DESPUÉS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80560" y="431596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plt.ylabel('Clase Real')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plt.xlabel('Clase Predicha')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10_MODELO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Validación: Random Forest Classifier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840480" cy="219456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8404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PARÁMETROS DEL MODELO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18105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20848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3591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3591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6334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26334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SMOTEENN (híbrido)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9077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29077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1280160"/>
            <a:ext cx="438912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4526280" y="138988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4681728" y="138988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837176" y="138988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526280" y="1572768"/>
            <a:ext cx="411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 = scaler.fit_transform(X_train_hybrid)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 = scaler.transform(X_test_cleaned)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RandomForestClassifier(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n_estimators=100, max_depth=6)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model.fit(X_tr, y_train_hybrid)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y_proba = model.predict_proba(X_te)[:,1]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MÉTRICAS EN TEST SET (Datos Originales Sin Balancear)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1920240" cy="777240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365760" y="4069080"/>
            <a:ext cx="19202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36576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0.9994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65760" y="4526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14600" y="4069080"/>
            <a:ext cx="1920240" cy="777240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2514600" y="4069080"/>
            <a:ext cx="192024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251460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~0.98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514600" y="4526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069080"/>
            <a:ext cx="1920240" cy="777240"/>
          </a:xfrm>
          <a:prstGeom prst="rect">
            <a:avLst/>
          </a:prstGeom>
          <a:solidFill>
            <a:srgbClr val="0C122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4663440" y="4069080"/>
            <a:ext cx="19202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466344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~0.93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663440" y="4526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12280" y="4069080"/>
            <a:ext cx="1920240" cy="777240"/>
          </a:xfrm>
          <a:prstGeom prst="rect">
            <a:avLst/>
          </a:prstGeom>
          <a:solidFill>
            <a:srgbClr val="0C122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6812280" y="4069080"/>
            <a:ext cx="192024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681228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~0.95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812280" y="4526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11_COMPARATIVA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Impacto de la Arquitectura (Cross-Validation 5-Fold)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1280160"/>
            <a:ext cx="3154680" cy="1115568"/>
          </a:xfrm>
          <a:prstGeom prst="rect">
            <a:avLst/>
          </a:prstGeom>
          <a:solidFill>
            <a:srgbClr val="0C1220"/>
          </a:solidFill>
          <a:ln w="12700">
            <a:solidFill>
              <a:srgbClr val="475569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5623560" y="1280160"/>
            <a:ext cx="315468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760720" y="1371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Base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1691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AUC: 0.8700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7804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Gini: 0.74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60720" y="199339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±0.04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23560" y="2514600"/>
            <a:ext cx="3154680" cy="1115568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5623560" y="2514600"/>
            <a:ext cx="31546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576072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Undersampling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60720" y="2926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AUC: 0.9100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78040" y="29260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Gini: 0.82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322783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±0.03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23560" y="3749040"/>
            <a:ext cx="3154680" cy="1115568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88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5623560" y="3749040"/>
            <a:ext cx="315468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576072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MICE+SMOTEENN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60720" y="4160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AUC: 0.9994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178040" y="41605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Gini: 0.9988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60720" y="44622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±0.0003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negocio: Gini = 2 × AUC − 1 (estándar bancario)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26">
            <a:extLst>
              <a:ext uri="{FF2B5EF4-FFF2-40B4-BE49-F238E27FC236}">
                <a16:creationId xmlns:a16="http://schemas.microsoft.com/office/drawing/2014/main" id="{C5A12309-A62E-D9DE-E274-571590465048}"/>
              </a:ext>
            </a:extLst>
          </p:cNvPr>
          <p:cNvSpPr/>
          <p:nvPr/>
        </p:nvSpPr>
        <p:spPr>
          <a:xfrm>
            <a:off x="0" y="2452931"/>
            <a:ext cx="9144000" cy="18288"/>
          </a:xfrm>
          <a:prstGeom prst="rect">
            <a:avLst/>
          </a:prstGeom>
          <a:solidFill>
            <a:srgbClr val="00D4FF">
              <a:alpha val="46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1527048" y="0"/>
            <a:ext cx="9144" cy="5143500"/>
          </a:xfrm>
          <a:prstGeom prst="rect">
            <a:avLst/>
          </a:prstGeom>
          <a:solidFill>
            <a:srgbClr val="A855F7">
              <a:alpha val="46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054096" y="0"/>
            <a:ext cx="9144" cy="5143500"/>
          </a:xfrm>
          <a:prstGeom prst="rect">
            <a:avLst/>
          </a:prstGeom>
          <a:solidFill>
            <a:srgbClr val="A855F7">
              <a:alpha val="46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581144" y="0"/>
            <a:ext cx="9144" cy="5143500"/>
          </a:xfrm>
          <a:prstGeom prst="rect">
            <a:avLst/>
          </a:prstGeom>
          <a:solidFill>
            <a:srgbClr val="A855F7">
              <a:alpha val="46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108192" y="0"/>
            <a:ext cx="9144" cy="5143500"/>
          </a:xfrm>
          <a:prstGeom prst="rect">
            <a:avLst/>
          </a:prstGeom>
          <a:solidFill>
            <a:srgbClr val="A855F7">
              <a:alpha val="46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635240" y="0"/>
            <a:ext cx="9144" cy="5143500"/>
          </a:xfrm>
          <a:prstGeom prst="rect">
            <a:avLst/>
          </a:prstGeom>
          <a:solidFill>
            <a:srgbClr val="A855F7">
              <a:alpha val="46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12_CONCLUSIONES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Conclusiones Estratégicas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144" y="1094941"/>
            <a:ext cx="9144000" cy="18288"/>
          </a:xfrm>
          <a:prstGeom prst="rect">
            <a:avLst/>
          </a:prstGeom>
          <a:solidFill>
            <a:srgbClr val="00D4FF">
              <a:alpha val="46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8412480" cy="1078992"/>
          </a:xfrm>
          <a:prstGeom prst="rect">
            <a:avLst/>
          </a:prstGeom>
          <a:solidFill>
            <a:srgbClr val="0C1220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84124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502920" y="1655064"/>
            <a:ext cx="41148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02920" y="1655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143560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Limpieza Multivariada (MICE)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1828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la integridad relacional de la información financiera. Imputar con contexto multivariado minimiza el sesgo en variables correlacionadas como ingreso, score y antigüedad.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8412480" cy="1078992"/>
          </a:xfrm>
          <a:prstGeom prst="rect">
            <a:avLst/>
          </a:prstGeom>
          <a:solidFill>
            <a:srgbClr val="0C1220"/>
          </a:solidFill>
          <a:ln w="12700">
            <a:solidFill>
              <a:srgbClr val="A855F7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02920" y="2843784"/>
            <a:ext cx="41148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0292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26243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Remuestreo Híbrido (SMOTEENN)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0175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generación de instancias sintéticas con limpieza de fronteras ambiguas. Preserva la señal de la clase minoritaria sin introducir ruido artificial en zonas de decisión.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8412480" cy="1078992"/>
          </a:xfrm>
          <a:prstGeom prst="rect">
            <a:avLst/>
          </a:prstGeom>
          <a:solidFill>
            <a:srgbClr val="0C1220"/>
          </a:solidFill>
          <a:ln w="12700">
            <a:solidFill>
              <a:srgbClr val="00FF88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841248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02920" y="4032504"/>
            <a:ext cx="41148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02920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0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381304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Rigor Anti-Data Leakage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2062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cálculo estadístico (cuantiles IQR, parámetros de imputación, distribuciones para SMOTE) se aprende únicamente del conjunto de entrenamiento y se aplica al test.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81515"/>
            <a:ext cx="9144000" cy="18288"/>
          </a:xfrm>
          <a:prstGeom prst="rect">
            <a:avLst/>
          </a:prstGeom>
          <a:solidFill>
            <a:srgbClr val="00D4FF">
              <a:alpha val="46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57200" y="48188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u="sng" dirty="0">
                <a:solidFill>
                  <a:srgbClr val="4755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Eliuth Misraim Rojas Villavicencio  •  CIENCIA DE DATOS | MLOps | RIESGO FINANCIERO</a:t>
            </a:r>
            <a:endParaRPr lang="en-US" sz="9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2EEB8B6E-7C8A-365D-DA19-FB0257003F1E}"/>
              </a:ext>
            </a:extLst>
          </p:cNvPr>
          <p:cNvSpPr/>
          <p:nvPr/>
        </p:nvSpPr>
        <p:spPr>
          <a:xfrm>
            <a:off x="0" y="3650370"/>
            <a:ext cx="9144000" cy="18288"/>
          </a:xfrm>
          <a:prstGeom prst="rect">
            <a:avLst/>
          </a:prstGeom>
          <a:solidFill>
            <a:srgbClr val="00D4FF">
              <a:alpha val="46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1432</Words>
  <Application>Microsoft Office PowerPoint</Application>
  <PresentationFormat>Presentación en pantalla (16:9)</PresentationFormat>
  <Paragraphs>278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Segoe UI Emoji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de Calidad de Datos y Mitigación de Desbalance</dc:title>
  <dc:subject>PptxGenJS Presentation</dc:subject>
  <dc:creator>Eliuth Misraim Rojas Villavicencio</dc:creator>
  <cp:lastModifiedBy>Eliuth Misraim Rojas Villavicencio</cp:lastModifiedBy>
  <cp:revision>2</cp:revision>
  <dcterms:created xsi:type="dcterms:W3CDTF">2026-05-27T00:34:11Z</dcterms:created>
  <dcterms:modified xsi:type="dcterms:W3CDTF">2026-05-27T00:59:59Z</dcterms:modified>
</cp:coreProperties>
</file>