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4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82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-731520" y="457200"/>
            <a:ext cx="4114800" cy="3200400"/>
          </a:xfrm>
          <a:prstGeom prst="ellipse">
            <a:avLst/>
          </a:prstGeom>
          <a:solidFill>
            <a:srgbClr val="00F5FF">
              <a:alpha val="12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Shape 85"/>
          <p:cNvSpPr/>
          <p:nvPr/>
        </p:nvSpPr>
        <p:spPr>
          <a:xfrm>
            <a:off x="5943600" y="2286000"/>
            <a:ext cx="3657600" cy="2743200"/>
          </a:xfrm>
          <a:prstGeom prst="ellipse">
            <a:avLst/>
          </a:prstGeom>
          <a:solidFill>
            <a:srgbClr val="9B59FF">
              <a:alpha val="10000"/>
            </a:srgbClr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Shape 8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87"/>
          <p:cNvSpPr/>
          <p:nvPr/>
        </p:nvSpPr>
        <p:spPr>
          <a:xfrm>
            <a:off x="502920" y="960120"/>
            <a:ext cx="1645920" cy="256032"/>
          </a:xfrm>
          <a:prstGeom prst="rect">
            <a:avLst/>
          </a:prstGeom>
          <a:solidFill>
            <a:srgbClr val="00F5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MÓDULO 24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kern="0" spc="4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ENSAMBLES</a:t>
            </a:r>
            <a:endParaRPr lang="en-US" sz="6200" dirty="0"/>
          </a:p>
        </p:txBody>
      </p:sp>
      <p:sp>
        <p:nvSpPr>
          <p:cNvPr id="91" name="Text 89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2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Consenso  &amp;  Potenciación</a:t>
            </a:r>
            <a:endParaRPr lang="en-US" sz="2200" dirty="0"/>
          </a:p>
        </p:txBody>
      </p:sp>
      <p:sp>
        <p:nvSpPr>
          <p:cNvPr id="92" name="Text 90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 ·  Gradient Boosting  ·  AdaBoost  ·  Stacking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57200" y="4389120"/>
            <a:ext cx="8229600" cy="2743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4" name="Text 9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 ·  Árboles de Decisión  →  Ensambles</a:t>
            </a:r>
            <a:endParaRPr lang="en-US" sz="1000" dirty="0"/>
          </a:p>
        </p:txBody>
      </p:sp>
      <p:pic>
        <p:nvPicPr>
          <p:cNvPr id="9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640080"/>
            <a:ext cx="731520" cy="731520"/>
          </a:xfrm>
          <a:prstGeom prst="rect">
            <a:avLst/>
          </a:prstGeom>
        </p:spPr>
      </p:pic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640080"/>
            <a:ext cx="731520" cy="731520"/>
          </a:xfrm>
          <a:prstGeom prst="rect">
            <a:avLst/>
          </a:prstGeom>
        </p:spPr>
      </p:pic>
      <p:pic>
        <p:nvPicPr>
          <p:cNvPr id="9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087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9B59FF">
              <a:alpha val="9000"/>
            </a:srgbClr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¿Por qué Ensambles?</a:t>
            </a:r>
            <a:endParaRPr lang="en-US" sz="2600" dirty="0"/>
          </a:p>
        </p:txBody>
      </p:sp>
      <p:sp>
        <p:nvSpPr>
          <p:cNvPr id="88" name="Shape 86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Shape 87"/>
          <p:cNvSpPr/>
          <p:nvPr/>
        </p:nvSpPr>
        <p:spPr>
          <a:xfrm>
            <a:off x="365760" y="868680"/>
            <a:ext cx="393192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0" name="Shape 88"/>
          <p:cNvSpPr/>
          <p:nvPr/>
        </p:nvSpPr>
        <p:spPr>
          <a:xfrm>
            <a:off x="365760" y="868680"/>
            <a:ext cx="64008" cy="17373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89"/>
          <p:cNvSpPr/>
          <p:nvPr/>
        </p:nvSpPr>
        <p:spPr>
          <a:xfrm>
            <a:off x="530352" y="932688"/>
            <a:ext cx="1645920" cy="256032"/>
          </a:xfrm>
          <a:prstGeom prst="rect">
            <a:avLst/>
          </a:prstGeom>
          <a:solidFill>
            <a:srgbClr val="FFB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Árbol de Decisión individual sufre de: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530352" y="160020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Overfitting (memoriza datos)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 varianza ante datos nuevos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Sensibilidad a pequeños cambios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846320" y="868680"/>
            <a:ext cx="3931920" cy="17373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5" name="Shape 93"/>
          <p:cNvSpPr/>
          <p:nvPr/>
        </p:nvSpPr>
        <p:spPr>
          <a:xfrm>
            <a:off x="4846320" y="868680"/>
            <a:ext cx="64008" cy="1737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6" name="Text 94"/>
          <p:cNvSpPr/>
          <p:nvPr/>
        </p:nvSpPr>
        <p:spPr>
          <a:xfrm>
            <a:off x="5010912" y="932688"/>
            <a:ext cx="1645920" cy="256032"/>
          </a:xfrm>
          <a:prstGeom prst="rect">
            <a:avLst/>
          </a:prstGeom>
          <a:solidFill>
            <a:srgbClr val="00FF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Métodos de Ensamble combinan: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5010912" y="160020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Decenas o cientos de modelos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uno corrige al anterior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Sabiduría colectiva &gt; experto único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315968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800" dirty="0"/>
          </a:p>
        </p:txBody>
      </p:sp>
      <p:sp>
        <p:nvSpPr>
          <p:cNvPr id="100" name="Shape 98"/>
          <p:cNvSpPr/>
          <p:nvPr/>
        </p:nvSpPr>
        <p:spPr>
          <a:xfrm>
            <a:off x="365760" y="2834640"/>
            <a:ext cx="8412480" cy="1005840"/>
          </a:xfrm>
          <a:prstGeom prst="rect">
            <a:avLst/>
          </a:prstGeom>
          <a:solidFill>
            <a:srgbClr val="081020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Text 99"/>
          <p:cNvSpPr/>
          <p:nvPr/>
        </p:nvSpPr>
        <p:spPr>
          <a:xfrm>
            <a:off x="502920" y="2926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 sabiduría de las multitudes siempre supera al experto aislado."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502920" y="3364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Combinamos modelos débiles → obtenemos un modelo irrefutablemente robusto</a:t>
            </a:r>
            <a:endParaRPr lang="en-US" sz="1100" dirty="0"/>
          </a:p>
        </p:txBody>
      </p:sp>
      <p:pic>
        <p:nvPicPr>
          <p:cNvPr id="10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772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0" y="914400"/>
            <a:ext cx="2743200" cy="2743200"/>
          </a:xfrm>
          <a:prstGeom prst="ellipse">
            <a:avLst/>
          </a:prstGeom>
          <a:solidFill>
            <a:srgbClr val="00FF88">
              <a:alpha val="9000"/>
            </a:srgbClr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Shape 85"/>
          <p:cNvSpPr/>
          <p:nvPr/>
        </p:nvSpPr>
        <p:spPr>
          <a:xfrm>
            <a:off x="6400800" y="914400"/>
            <a:ext cx="2743200" cy="2743200"/>
          </a:xfrm>
          <a:prstGeom prst="ellipse">
            <a:avLst/>
          </a:prstGeom>
          <a:solidFill>
            <a:srgbClr val="9B59FF">
              <a:alpha val="9000"/>
            </a:srgbClr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Text 86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 Dos Filosofías</a:t>
            </a:r>
            <a:endParaRPr lang="en-US" sz="2600" dirty="0"/>
          </a:p>
        </p:txBody>
      </p:sp>
      <p:sp>
        <p:nvSpPr>
          <p:cNvPr id="89" name="Shape 87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0" name="Shape 88"/>
          <p:cNvSpPr/>
          <p:nvPr/>
        </p:nvSpPr>
        <p:spPr>
          <a:xfrm>
            <a:off x="4453128" y="777240"/>
            <a:ext cx="13716" cy="3931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89"/>
          <p:cNvSpPr/>
          <p:nvPr/>
        </p:nvSpPr>
        <p:spPr>
          <a:xfrm>
            <a:off x="411480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365760" y="822960"/>
            <a:ext cx="397764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3" name="Shape 91"/>
          <p:cNvSpPr/>
          <p:nvPr/>
        </p:nvSpPr>
        <p:spPr>
          <a:xfrm>
            <a:off x="365760" y="822960"/>
            <a:ext cx="64008" cy="35661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457200" cy="457200"/>
          </a:xfrm>
          <a:prstGeom prst="rect">
            <a:avLst/>
          </a:prstGeom>
        </p:spPr>
      </p:pic>
      <p:sp>
        <p:nvSpPr>
          <p:cNvPr id="95" name="Text 92"/>
          <p:cNvSpPr/>
          <p:nvPr/>
        </p:nvSpPr>
        <p:spPr>
          <a:xfrm>
            <a:off x="1097280" y="914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BAGGING</a:t>
            </a:r>
            <a:endParaRPr lang="en-US" sz="1800" dirty="0"/>
          </a:p>
        </p:txBody>
      </p:sp>
      <p:sp>
        <p:nvSpPr>
          <p:cNvPr id="96" name="Text 93"/>
          <p:cNvSpPr/>
          <p:nvPr/>
        </p:nvSpPr>
        <p:spPr>
          <a:xfrm>
            <a:off x="59436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Consenso · Random Forest</a:t>
            </a:r>
            <a:endParaRPr lang="en-US" sz="1000" dirty="0"/>
          </a:p>
        </p:txBody>
      </p:sp>
      <p:sp>
        <p:nvSpPr>
          <p:cNvPr id="97" name="Text 94"/>
          <p:cNvSpPr/>
          <p:nvPr/>
        </p:nvSpPr>
        <p:spPr>
          <a:xfrm>
            <a:off x="594360" y="17373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Árboles paralelos e independientes
</a:t>
            </a: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Subconjunto distinto de datos y variables
</a:t>
            </a: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 votan → gana la mayoría
</a:t>
            </a: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la VARIANZA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594360" y="3749040"/>
            <a:ext cx="3474720" cy="411480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9" name="Text 96"/>
          <p:cNvSpPr/>
          <p:nvPr/>
        </p:nvSpPr>
        <p:spPr>
          <a:xfrm>
            <a:off x="59436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LA VARIANZA</a:t>
            </a:r>
            <a:endParaRPr lang="en-US" sz="1100" dirty="0"/>
          </a:p>
        </p:txBody>
      </p:sp>
      <p:sp>
        <p:nvSpPr>
          <p:cNvPr id="100" name="Shape 97"/>
          <p:cNvSpPr/>
          <p:nvPr/>
        </p:nvSpPr>
        <p:spPr>
          <a:xfrm>
            <a:off x="4800600" y="822960"/>
            <a:ext cx="397764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1" name="Shape 98"/>
          <p:cNvSpPr/>
          <p:nvPr/>
        </p:nvSpPr>
        <p:spPr>
          <a:xfrm>
            <a:off x="4800600" y="822960"/>
            <a:ext cx="64008" cy="356616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457200" cy="457200"/>
          </a:xfrm>
          <a:prstGeom prst="rect">
            <a:avLst/>
          </a:prstGeom>
        </p:spPr>
      </p:pic>
      <p:sp>
        <p:nvSpPr>
          <p:cNvPr id="103" name="Text 99"/>
          <p:cNvSpPr/>
          <p:nvPr/>
        </p:nvSpPr>
        <p:spPr>
          <a:xfrm>
            <a:off x="5532120" y="914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BOOSTING</a:t>
            </a:r>
            <a:endParaRPr lang="en-US" sz="1800" dirty="0"/>
          </a:p>
        </p:txBody>
      </p:sp>
      <p:sp>
        <p:nvSpPr>
          <p:cNvPr id="104" name="Text 100"/>
          <p:cNvSpPr/>
          <p:nvPr/>
        </p:nvSpPr>
        <p:spPr>
          <a:xfrm>
            <a:off x="502920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Potenciación · GradientBoosting · AdaBoost</a:t>
            </a:r>
            <a:endParaRPr lang="en-US" sz="1000" dirty="0"/>
          </a:p>
        </p:txBody>
      </p:sp>
      <p:sp>
        <p:nvSpPr>
          <p:cNvPr id="105" name="Text 101"/>
          <p:cNvSpPr/>
          <p:nvPr/>
        </p:nvSpPr>
        <p:spPr>
          <a:xfrm>
            <a:off x="5029200" y="17373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Árboles entrenados secuencialmente
</a:t>
            </a: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N corrige errores del Árbol N-1
</a:t>
            </a: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Aprendizaje enfocado en fallos previos
</a:t>
            </a: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el SESGO</a:t>
            </a:r>
            <a:endParaRPr lang="en-US" sz="1100" dirty="0"/>
          </a:p>
        </p:txBody>
      </p:sp>
      <p:sp>
        <p:nvSpPr>
          <p:cNvPr id="106" name="Shape 102"/>
          <p:cNvSpPr/>
          <p:nvPr/>
        </p:nvSpPr>
        <p:spPr>
          <a:xfrm>
            <a:off x="5029200" y="3749040"/>
            <a:ext cx="3474720" cy="411480"/>
          </a:xfrm>
          <a:prstGeom prst="rect">
            <a:avLst/>
          </a:prstGeom>
          <a:solidFill>
            <a:srgbClr val="9B59FF">
              <a:alpha val="20000"/>
            </a:srgbClr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3"/>
          <p:cNvSpPr/>
          <p:nvPr/>
        </p:nvSpPr>
        <p:spPr>
          <a:xfrm>
            <a:off x="502920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EL SESGO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5486400" y="1828800"/>
            <a:ext cx="3657600" cy="2743200"/>
          </a:xfrm>
          <a:prstGeom prst="ellipse">
            <a:avLst/>
          </a:prstGeom>
          <a:solidFill>
            <a:srgbClr val="00F5FF">
              <a:alpha val="9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Preprocesamiento: LabelEncoder</a:t>
            </a:r>
            <a:endParaRPr lang="en-US" sz="2600" dirty="0"/>
          </a:p>
        </p:txBody>
      </p:sp>
      <p:sp>
        <p:nvSpPr>
          <p:cNvPr id="88" name="Shape 86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"/>
            <a:ext cx="411480" cy="411480"/>
          </a:xfrm>
          <a:prstGeom prst="rect">
            <a:avLst/>
          </a:prstGeom>
        </p:spPr>
      </p:pic>
      <p:sp>
        <p:nvSpPr>
          <p:cNvPr id="90" name="Shape 87"/>
          <p:cNvSpPr/>
          <p:nvPr/>
        </p:nvSpPr>
        <p:spPr>
          <a:xfrm>
            <a:off x="365760" y="868680"/>
            <a:ext cx="347472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1" name="Shape 88"/>
          <p:cNvSpPr/>
          <p:nvPr/>
        </p:nvSpPr>
        <p:spPr>
          <a:xfrm>
            <a:off x="365760" y="868680"/>
            <a:ext cx="64008" cy="356616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2" name="Text 89"/>
          <p:cNvSpPr/>
          <p:nvPr/>
        </p:nvSpPr>
        <p:spPr>
          <a:xfrm>
            <a:off x="530352" y="932688"/>
            <a:ext cx="1645920" cy="256032"/>
          </a:xfrm>
          <a:prstGeom prst="rect">
            <a:avLst/>
          </a:prstGeom>
          <a:solidFill>
            <a:srgbClr val="00F5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¿POR QUÉ?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530352" y="126187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árboles no leen texto.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Necesitamos convertir categorías a números.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502920" y="2084832"/>
            <a:ext cx="3154680" cy="548640"/>
          </a:xfrm>
          <a:prstGeom prst="rect">
            <a:avLst/>
          </a:prstGeom>
          <a:solidFill>
            <a:srgbClr val="081020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92"/>
          <p:cNvSpPr/>
          <p:nvPr/>
        </p:nvSpPr>
        <p:spPr>
          <a:xfrm>
            <a:off x="594360" y="2130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000" dirty="0"/>
          </a:p>
        </p:txBody>
      </p:sp>
      <p:sp>
        <p:nvSpPr>
          <p:cNvPr id="96" name="Text 93"/>
          <p:cNvSpPr/>
          <p:nvPr/>
        </p:nvSpPr>
        <p:spPr>
          <a:xfrm>
            <a:off x="594360" y="2359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→ 0   M → 1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502920" y="2743200"/>
            <a:ext cx="3154680" cy="548640"/>
          </a:xfrm>
          <a:prstGeom prst="rect">
            <a:avLst/>
          </a:prstGeom>
          <a:solidFill>
            <a:srgbClr val="081020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8" name="Text 95"/>
          <p:cNvSpPr/>
          <p:nvPr/>
        </p:nvSpPr>
        <p:spPr>
          <a:xfrm>
            <a:off x="59436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</a:t>
            </a:r>
            <a:endParaRPr lang="en-US" sz="1000" dirty="0"/>
          </a:p>
        </p:txBody>
      </p:sp>
      <p:sp>
        <p:nvSpPr>
          <p:cNvPr id="99" name="Text 96"/>
          <p:cNvSpPr/>
          <p:nvPr/>
        </p:nvSpPr>
        <p:spPr>
          <a:xfrm>
            <a:off x="594360" y="3017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HIGH→0  LOW→1  NORMAL→2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502920" y="3401568"/>
            <a:ext cx="3154680" cy="548640"/>
          </a:xfrm>
          <a:prstGeom prst="rect">
            <a:avLst/>
          </a:prstGeom>
          <a:solidFill>
            <a:srgbClr val="081020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Text 98"/>
          <p:cNvSpPr/>
          <p:nvPr/>
        </p:nvSpPr>
        <p:spPr>
          <a:xfrm>
            <a:off x="594360" y="3447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Cholesterol</a:t>
            </a:r>
            <a:endParaRPr lang="en-US" sz="1000" dirty="0"/>
          </a:p>
        </p:txBody>
      </p:sp>
      <p:sp>
        <p:nvSpPr>
          <p:cNvPr id="102" name="Text 99"/>
          <p:cNvSpPr/>
          <p:nvPr/>
        </p:nvSpPr>
        <p:spPr>
          <a:xfrm>
            <a:off x="594360" y="36758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→ 0   HIGH → 1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502920" y="4005072"/>
            <a:ext cx="3154680" cy="292608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4" name="Text 101"/>
          <p:cNvSpPr/>
          <p:nvPr/>
        </p:nvSpPr>
        <p:spPr>
          <a:xfrm>
            <a:off x="530352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Ideal para algoritmos basados en árboles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3977640" y="868680"/>
            <a:ext cx="4800600" cy="3566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6" name="Shape 103"/>
          <p:cNvSpPr/>
          <p:nvPr/>
        </p:nvSpPr>
        <p:spPr>
          <a:xfrm>
            <a:off x="3977640" y="868680"/>
            <a:ext cx="64008" cy="356616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4"/>
          <p:cNvSpPr/>
          <p:nvPr/>
        </p:nvSpPr>
        <p:spPr>
          <a:xfrm>
            <a:off x="4142232" y="932688"/>
            <a:ext cx="1645920" cy="256032"/>
          </a:xfrm>
          <a:prstGeom prst="rect">
            <a:avLst/>
          </a:prstGeom>
          <a:solidFill>
            <a:srgbClr val="9B59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4114800" y="1261872"/>
            <a:ext cx="4480560" cy="3063240"/>
          </a:xfrm>
          <a:prstGeom prst="rect">
            <a:avLst/>
          </a:prstGeom>
          <a:solidFill>
            <a:srgbClr val="081020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9" name="Text 106"/>
          <p:cNvSpPr/>
          <p:nvPr/>
        </p:nvSpPr>
        <p:spPr>
          <a:xfrm>
            <a:off x="4251960" y="13258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
cols = ['Sex','BP','Cholesterol']
</a:t>
            </a:r>
            <a:r>
              <a:rPr lang="en-US" sz="9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cols:
</a:t>
            </a: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X[col] = le.fit_transform(
</a:t>
            </a: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X[col]
</a:t>
            </a: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
</a:t>
            </a:r>
            <a:r>
              <a:rPr lang="en-US" sz="9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Dividir datos
</a:t>
            </a: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
y_test = train_test_split(
</a:t>
            </a:r>
            <a:r>
              <a:rPr lang="en-US" sz="9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
    random_state=42,
    stratify=y
</a:t>
            </a: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0" y="1828800"/>
            <a:ext cx="2743200" cy="2743200"/>
          </a:xfrm>
          <a:prstGeom prst="ellipse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Random Forest · Feature Importance</a:t>
            </a:r>
            <a:endParaRPr lang="en-US" sz="2600" dirty="0"/>
          </a:p>
        </p:txBody>
      </p:sp>
      <p:sp>
        <p:nvSpPr>
          <p:cNvPr id="88" name="Shape 86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"/>
            <a:ext cx="411480" cy="411480"/>
          </a:xfrm>
          <a:prstGeom prst="rect">
            <a:avLst/>
          </a:prstGeom>
        </p:spPr>
      </p:pic>
      <p:sp>
        <p:nvSpPr>
          <p:cNvPr id="90" name="Shape 87"/>
          <p:cNvSpPr/>
          <p:nvPr/>
        </p:nvSpPr>
        <p:spPr>
          <a:xfrm>
            <a:off x="365760" y="822960"/>
            <a:ext cx="3474720" cy="32232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1" name="Shape 88"/>
          <p:cNvSpPr/>
          <p:nvPr/>
        </p:nvSpPr>
        <p:spPr>
          <a:xfrm>
            <a:off x="365760" y="822960"/>
            <a:ext cx="55105" cy="32232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2" name="Text 89"/>
          <p:cNvSpPr/>
          <p:nvPr/>
        </p:nvSpPr>
        <p:spPr>
          <a:xfrm>
            <a:off x="530352" y="886968"/>
            <a:ext cx="1645920" cy="256032"/>
          </a:xfrm>
          <a:prstGeom prst="rect">
            <a:avLst/>
          </a:prstGeom>
          <a:solidFill>
            <a:srgbClr val="00FF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530352" y="1234440"/>
            <a:ext cx="31272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 árboles
</a:t>
            </a: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árbol: subconjunto aleatorio
de datos y variables
</a:t>
            </a: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Votación por mayoría final
</a:t>
            </a: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 precisión + baja varianza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3977640" y="822960"/>
            <a:ext cx="4800600" cy="32232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5" name="Shape 92"/>
          <p:cNvSpPr/>
          <p:nvPr/>
        </p:nvSpPr>
        <p:spPr>
          <a:xfrm>
            <a:off x="3977640" y="822960"/>
            <a:ext cx="64008" cy="322326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6" name="Text 93"/>
          <p:cNvSpPr/>
          <p:nvPr/>
        </p:nvSpPr>
        <p:spPr>
          <a:xfrm>
            <a:off x="4142232" y="886968"/>
            <a:ext cx="1645920" cy="256032"/>
          </a:xfrm>
          <a:prstGeom prst="rect">
            <a:avLst/>
          </a:prstGeom>
          <a:solidFill>
            <a:srgbClr val="9B59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4133088" y="13624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Na_to_K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5074920" y="1371600"/>
            <a:ext cx="356616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9" name="Shape 96"/>
          <p:cNvSpPr/>
          <p:nvPr/>
        </p:nvSpPr>
        <p:spPr>
          <a:xfrm>
            <a:off x="5074920" y="1371600"/>
            <a:ext cx="3044952" cy="2743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0" name="Text 97"/>
          <p:cNvSpPr/>
          <p:nvPr/>
        </p:nvSpPr>
        <p:spPr>
          <a:xfrm>
            <a:off x="8165592" y="13807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74%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4133088" y="19293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5074920" y="1938528"/>
            <a:ext cx="356616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Shape 100"/>
          <p:cNvSpPr/>
          <p:nvPr/>
        </p:nvSpPr>
        <p:spPr>
          <a:xfrm>
            <a:off x="5074920" y="1938528"/>
            <a:ext cx="576072" cy="2743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4" name="Text 101"/>
          <p:cNvSpPr/>
          <p:nvPr/>
        </p:nvSpPr>
        <p:spPr>
          <a:xfrm>
            <a:off x="5696712" y="1947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14%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4133088" y="24963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Cholesterol</a:t>
            </a:r>
            <a:endParaRPr lang="en-US" sz="950" dirty="0"/>
          </a:p>
        </p:txBody>
      </p:sp>
      <p:sp>
        <p:nvSpPr>
          <p:cNvPr id="106" name="Shape 103"/>
          <p:cNvSpPr/>
          <p:nvPr/>
        </p:nvSpPr>
        <p:spPr>
          <a:xfrm>
            <a:off x="5074920" y="2505456"/>
            <a:ext cx="356616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Shape 104"/>
          <p:cNvSpPr/>
          <p:nvPr/>
        </p:nvSpPr>
        <p:spPr>
          <a:xfrm>
            <a:off x="5074920" y="2505456"/>
            <a:ext cx="205740" cy="2743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8" name="Text 105"/>
          <p:cNvSpPr/>
          <p:nvPr/>
        </p:nvSpPr>
        <p:spPr>
          <a:xfrm>
            <a:off x="5326380" y="2514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4133088" y="30632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950" dirty="0"/>
          </a:p>
        </p:txBody>
      </p:sp>
      <p:sp>
        <p:nvSpPr>
          <p:cNvPr id="110" name="Shape 107"/>
          <p:cNvSpPr/>
          <p:nvPr/>
        </p:nvSpPr>
        <p:spPr>
          <a:xfrm>
            <a:off x="5074920" y="3072384"/>
            <a:ext cx="356616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1" name="Shape 108"/>
          <p:cNvSpPr/>
          <p:nvPr/>
        </p:nvSpPr>
        <p:spPr>
          <a:xfrm>
            <a:off x="5074920" y="3072384"/>
            <a:ext cx="164592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2" name="Text 109"/>
          <p:cNvSpPr/>
          <p:nvPr/>
        </p:nvSpPr>
        <p:spPr>
          <a:xfrm>
            <a:off x="5285232" y="3081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4%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4133088" y="36301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5074920" y="3639312"/>
            <a:ext cx="3547872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5" name="Shape 112"/>
          <p:cNvSpPr/>
          <p:nvPr/>
        </p:nvSpPr>
        <p:spPr>
          <a:xfrm>
            <a:off x="5074920" y="3639312"/>
            <a:ext cx="123444" cy="274320"/>
          </a:xfrm>
          <a:prstGeom prst="rect">
            <a:avLst/>
          </a:prstGeom>
          <a:solidFill>
            <a:srgbClr val="6B7E9A"/>
          </a:solidFill>
          <a:ln w="12700">
            <a:solidFill>
              <a:srgbClr val="6B7E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6" name="Text 113"/>
          <p:cNvSpPr/>
          <p:nvPr/>
        </p:nvSpPr>
        <p:spPr>
          <a:xfrm>
            <a:off x="5244084" y="3648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3%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365760" y="4110228"/>
            <a:ext cx="8412480" cy="804672"/>
          </a:xfrm>
          <a:prstGeom prst="rect">
            <a:avLst/>
          </a:prstGeom>
          <a:solidFill>
            <a:srgbClr val="08102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8" name="Text 115"/>
          <p:cNvSpPr/>
          <p:nvPr/>
        </p:nvSpPr>
        <p:spPr>
          <a:xfrm>
            <a:off x="594360" y="416581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Na_to_K es, por mucho, el predictor más importante del medicamento adecuado.</a:t>
            </a:r>
            <a:endParaRPr lang="en-US" sz="1100" dirty="0"/>
          </a:p>
        </p:txBody>
      </p:sp>
      <p:sp>
        <p:nvSpPr>
          <p:cNvPr id="119" name="Text 116"/>
          <p:cNvSpPr/>
          <p:nvPr/>
        </p:nvSpPr>
        <p:spPr>
          <a:xfrm>
            <a:off x="594360" y="448585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sexo del paciente es matemáticamente irrelevante para este diagnóstico.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6400800" y="914400"/>
            <a:ext cx="3657600" cy="2743200"/>
          </a:xfrm>
          <a:prstGeom prst="ellipse">
            <a:avLst/>
          </a:prstGeom>
          <a:solidFill>
            <a:srgbClr val="FFB800">
              <a:alpha val="10000"/>
            </a:srgbClr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GradientBoosting &amp; AdaBoost</a:t>
            </a:r>
            <a:endParaRPr lang="en-US" sz="2600" dirty="0"/>
          </a:p>
        </p:txBody>
      </p:sp>
      <p:sp>
        <p:nvSpPr>
          <p:cNvPr id="88" name="Shape 86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"/>
            <a:ext cx="411480" cy="411480"/>
          </a:xfrm>
          <a:prstGeom prst="rect">
            <a:avLst/>
          </a:prstGeom>
        </p:spPr>
      </p:pic>
      <p:sp>
        <p:nvSpPr>
          <p:cNvPr id="90" name="Shape 87"/>
          <p:cNvSpPr/>
          <p:nvPr/>
        </p:nvSpPr>
        <p:spPr>
          <a:xfrm>
            <a:off x="320040" y="822960"/>
            <a:ext cx="1920240" cy="1005840"/>
          </a:xfrm>
          <a:prstGeom prst="rect">
            <a:avLst/>
          </a:prstGeom>
          <a:solidFill>
            <a:srgbClr val="0D1526"/>
          </a:solidFill>
          <a:ln w="1905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88"/>
          <p:cNvSpPr/>
          <p:nvPr/>
        </p:nvSpPr>
        <p:spPr>
          <a:xfrm>
            <a:off x="320040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1</a:t>
            </a:r>
            <a:endParaRPr lang="en-US" sz="1400" dirty="0"/>
          </a:p>
        </p:txBody>
      </p:sp>
      <p:sp>
        <p:nvSpPr>
          <p:cNvPr id="92" name="Text 89"/>
          <p:cNvSpPr/>
          <p:nvPr/>
        </p:nvSpPr>
        <p:spPr>
          <a:xfrm>
            <a:off x="320040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Primera predicción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2240280" y="10972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94" name="Shape 91"/>
          <p:cNvSpPr/>
          <p:nvPr/>
        </p:nvSpPr>
        <p:spPr>
          <a:xfrm>
            <a:off x="2532888" y="822960"/>
            <a:ext cx="1920240" cy="1005840"/>
          </a:xfrm>
          <a:prstGeom prst="rect">
            <a:avLst/>
          </a:prstGeom>
          <a:solidFill>
            <a:srgbClr val="0D1526"/>
          </a:solidFill>
          <a:ln w="19050">
            <a:solidFill>
              <a:srgbClr val="9B59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92"/>
          <p:cNvSpPr/>
          <p:nvPr/>
        </p:nvSpPr>
        <p:spPr>
          <a:xfrm>
            <a:off x="2532888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2</a:t>
            </a:r>
            <a:endParaRPr lang="en-US" sz="1400" dirty="0"/>
          </a:p>
        </p:txBody>
      </p:sp>
      <p:sp>
        <p:nvSpPr>
          <p:cNvPr id="96" name="Text 93"/>
          <p:cNvSpPr/>
          <p:nvPr/>
        </p:nvSpPr>
        <p:spPr>
          <a:xfrm>
            <a:off x="2532888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Corrige errores de T1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4453128" y="10972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98" name="Shape 95"/>
          <p:cNvSpPr/>
          <p:nvPr/>
        </p:nvSpPr>
        <p:spPr>
          <a:xfrm>
            <a:off x="4745736" y="822960"/>
            <a:ext cx="1920240" cy="1005840"/>
          </a:xfrm>
          <a:prstGeom prst="rect">
            <a:avLst/>
          </a:prstGeom>
          <a:solidFill>
            <a:srgbClr val="0D1526"/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9" name="Text 96"/>
          <p:cNvSpPr/>
          <p:nvPr/>
        </p:nvSpPr>
        <p:spPr>
          <a:xfrm>
            <a:off x="4745736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3</a:t>
            </a:r>
            <a:endParaRPr lang="en-US" sz="1400" dirty="0"/>
          </a:p>
        </p:txBody>
      </p:sp>
      <p:sp>
        <p:nvSpPr>
          <p:cNvPr id="100" name="Text 97"/>
          <p:cNvSpPr/>
          <p:nvPr/>
        </p:nvSpPr>
        <p:spPr>
          <a:xfrm>
            <a:off x="4745736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Corrige errores de T2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6665976" y="10972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02" name="Shape 99"/>
          <p:cNvSpPr/>
          <p:nvPr/>
        </p:nvSpPr>
        <p:spPr>
          <a:xfrm>
            <a:off x="6958584" y="822960"/>
            <a:ext cx="1920240" cy="1005840"/>
          </a:xfrm>
          <a:prstGeom prst="rect">
            <a:avLst/>
          </a:prstGeom>
          <a:solidFill>
            <a:srgbClr val="0D1526"/>
          </a:solidFill>
          <a:ln w="1905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Text 100"/>
          <p:cNvSpPr/>
          <p:nvPr/>
        </p:nvSpPr>
        <p:spPr>
          <a:xfrm>
            <a:off x="6958584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N</a:t>
            </a:r>
            <a:endParaRPr lang="en-US" sz="1400" dirty="0"/>
          </a:p>
        </p:txBody>
      </p:sp>
      <p:sp>
        <p:nvSpPr>
          <p:cNvPr id="104" name="Text 101"/>
          <p:cNvSpPr/>
          <p:nvPr/>
        </p:nvSpPr>
        <p:spPr>
          <a:xfrm>
            <a:off x="6958584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final robusto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365760" y="2011680"/>
            <a:ext cx="39776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6" name="Shape 103"/>
          <p:cNvSpPr/>
          <p:nvPr/>
        </p:nvSpPr>
        <p:spPr>
          <a:xfrm>
            <a:off x="365760" y="2011680"/>
            <a:ext cx="64008" cy="26517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4"/>
          <p:cNvSpPr/>
          <p:nvPr/>
        </p:nvSpPr>
        <p:spPr>
          <a:xfrm>
            <a:off x="530352" y="2075688"/>
            <a:ext cx="1645920" cy="256032"/>
          </a:xfrm>
          <a:prstGeom prst="rect">
            <a:avLst/>
          </a:prstGeom>
          <a:solidFill>
            <a:srgbClr val="FFB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02920" y="23957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AdaBoostClassifier(
</a:t>
            </a:r>
            <a:r>
              <a:rPr lang="en-US" sz="10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n_estimators=100,
    random_state=42
</a:t>
            </a: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9" name="Text 106"/>
          <p:cNvSpPr/>
          <p:nvPr/>
        </p:nvSpPr>
        <p:spPr>
          <a:xfrm>
            <a:off x="502920" y="32918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 tocones (profundidad 1). Reasigna pesos a los mal clasificados. Puede batallar con multiclase compleja.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4800600" y="2011680"/>
            <a:ext cx="39776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1" name="Shape 108"/>
          <p:cNvSpPr/>
          <p:nvPr/>
        </p:nvSpPr>
        <p:spPr>
          <a:xfrm>
            <a:off x="4800600" y="2011680"/>
            <a:ext cx="64008" cy="265176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2" name="Text 109"/>
          <p:cNvSpPr/>
          <p:nvPr/>
        </p:nvSpPr>
        <p:spPr>
          <a:xfrm>
            <a:off x="4965192" y="2075688"/>
            <a:ext cx="1645920" cy="256032"/>
          </a:xfrm>
          <a:prstGeom prst="rect">
            <a:avLst/>
          </a:prstGeom>
          <a:solidFill>
            <a:srgbClr val="9B59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4937760" y="23957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GradientBoostingClassifier(
</a:t>
            </a:r>
            <a:r>
              <a:rPr lang="en-US" sz="10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n_estimators=100,
    max_depth=3,
    random_state=42
</a:t>
            </a: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14" name="Text 111"/>
          <p:cNvSpPr/>
          <p:nvPr/>
        </p:nvSpPr>
        <p:spPr>
          <a:xfrm>
            <a:off x="4937760" y="33832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Descenso de gradiente sobre residuales. max_depth=3 evita overfitting. Gestiona multiclase con maestría.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85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Comparativa Final de Algoritmos</a:t>
            </a:r>
            <a:endParaRPr lang="en-US" sz="2600" dirty="0"/>
          </a:p>
        </p:txBody>
      </p:sp>
      <p:sp>
        <p:nvSpPr>
          <p:cNvPr id="88" name="Shape 86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"/>
            <a:ext cx="411480" cy="411480"/>
          </a:xfrm>
          <a:prstGeom prst="rect">
            <a:avLst/>
          </a:prstGeom>
        </p:spPr>
      </p:pic>
      <p:sp>
        <p:nvSpPr>
          <p:cNvPr id="90" name="Shape 87"/>
          <p:cNvSpPr/>
          <p:nvPr/>
        </p:nvSpPr>
        <p:spPr>
          <a:xfrm>
            <a:off x="365760" y="822960"/>
            <a:ext cx="246888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88"/>
          <p:cNvSpPr/>
          <p:nvPr/>
        </p:nvSpPr>
        <p:spPr>
          <a:xfrm>
            <a:off x="457200" y="841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2926080" y="822960"/>
            <a:ext cx="246888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Text 90"/>
          <p:cNvSpPr/>
          <p:nvPr/>
        </p:nvSpPr>
        <p:spPr>
          <a:xfrm>
            <a:off x="3017520" y="841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FILOSOFÍA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5669280" y="822960"/>
            <a:ext cx="246888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92"/>
          <p:cNvSpPr/>
          <p:nvPr/>
        </p:nvSpPr>
        <p:spPr>
          <a:xfrm>
            <a:off x="5760720" y="841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7680960" y="822960"/>
            <a:ext cx="109728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Text 94"/>
          <p:cNvSpPr/>
          <p:nvPr/>
        </p:nvSpPr>
        <p:spPr>
          <a:xfrm>
            <a:off x="7772400" y="841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PROD-READY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08102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9" name="Text 96"/>
          <p:cNvSpPr/>
          <p:nvPr/>
        </p:nvSpPr>
        <p:spPr>
          <a:xfrm>
            <a:off x="502920" y="13990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00" name="Shape 97"/>
          <p:cNvSpPr/>
          <p:nvPr/>
        </p:nvSpPr>
        <p:spPr>
          <a:xfrm>
            <a:off x="2926080" y="126187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Text 98"/>
          <p:cNvSpPr/>
          <p:nvPr/>
        </p:nvSpPr>
        <p:spPr>
          <a:xfrm>
            <a:off x="3017520" y="1399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Potenciación</a:t>
            </a:r>
            <a:endParaRPr lang="en-US" sz="1100" dirty="0"/>
          </a:p>
        </p:txBody>
      </p:sp>
      <p:sp>
        <p:nvSpPr>
          <p:cNvPr id="102" name="Shape 99"/>
          <p:cNvSpPr/>
          <p:nvPr/>
        </p:nvSpPr>
        <p:spPr>
          <a:xfrm>
            <a:off x="5669280" y="126187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Text 100"/>
          <p:cNvSpPr/>
          <p:nvPr/>
        </p:nvSpPr>
        <p:spPr>
          <a:xfrm>
            <a:off x="5760720" y="1399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Alta</a:t>
            </a:r>
            <a:endParaRPr lang="en-US" sz="1100" dirty="0"/>
          </a:p>
        </p:txBody>
      </p:sp>
      <p:sp>
        <p:nvSpPr>
          <p:cNvPr id="104" name="Shape 101"/>
          <p:cNvSpPr/>
          <p:nvPr/>
        </p:nvSpPr>
        <p:spPr>
          <a:xfrm>
            <a:off x="7680960" y="126187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5" name="Text 102"/>
          <p:cNvSpPr/>
          <p:nvPr/>
        </p:nvSpPr>
        <p:spPr>
          <a:xfrm>
            <a:off x="7772400" y="13990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SÍ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365760" y="2039112"/>
            <a:ext cx="8412480" cy="658368"/>
          </a:xfrm>
          <a:prstGeom prst="rect">
            <a:avLst/>
          </a:prstGeom>
          <a:solidFill>
            <a:srgbClr val="08102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4"/>
          <p:cNvSpPr/>
          <p:nvPr/>
        </p:nvSpPr>
        <p:spPr>
          <a:xfrm>
            <a:off x="502920" y="2176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8" name="Shape 105"/>
          <p:cNvSpPr/>
          <p:nvPr/>
        </p:nvSpPr>
        <p:spPr>
          <a:xfrm>
            <a:off x="2926080" y="203911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9" name="Text 106"/>
          <p:cNvSpPr/>
          <p:nvPr/>
        </p:nvSpPr>
        <p:spPr>
          <a:xfrm>
            <a:off x="3017520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Consenso (Bagging)</a:t>
            </a:r>
            <a:endParaRPr lang="en-US" sz="1100" dirty="0"/>
          </a:p>
        </p:txBody>
      </p:sp>
      <p:sp>
        <p:nvSpPr>
          <p:cNvPr id="110" name="Shape 107"/>
          <p:cNvSpPr/>
          <p:nvPr/>
        </p:nvSpPr>
        <p:spPr>
          <a:xfrm>
            <a:off x="5669280" y="203911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1" name="Text 108"/>
          <p:cNvSpPr/>
          <p:nvPr/>
        </p:nvSpPr>
        <p:spPr>
          <a:xfrm>
            <a:off x="576072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Alta</a:t>
            </a:r>
            <a:endParaRPr lang="en-US" sz="1100" dirty="0"/>
          </a:p>
        </p:txBody>
      </p:sp>
      <p:sp>
        <p:nvSpPr>
          <p:cNvPr id="112" name="Shape 109"/>
          <p:cNvSpPr/>
          <p:nvPr/>
        </p:nvSpPr>
        <p:spPr>
          <a:xfrm>
            <a:off x="7680960" y="203911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3" name="Text 110"/>
          <p:cNvSpPr/>
          <p:nvPr/>
        </p:nvSpPr>
        <p:spPr>
          <a:xfrm>
            <a:off x="777240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SÍ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365760" y="2816352"/>
            <a:ext cx="84124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5" name="Text 112"/>
          <p:cNvSpPr/>
          <p:nvPr/>
        </p:nvSpPr>
        <p:spPr>
          <a:xfrm>
            <a:off x="502920" y="2953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</a:t>
            </a:r>
            <a:endParaRPr lang="en-US" sz="1100" dirty="0"/>
          </a:p>
        </p:txBody>
      </p:sp>
      <p:sp>
        <p:nvSpPr>
          <p:cNvPr id="116" name="Shape 113"/>
          <p:cNvSpPr/>
          <p:nvPr/>
        </p:nvSpPr>
        <p:spPr>
          <a:xfrm>
            <a:off x="2926080" y="281635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7" name="Text 114"/>
          <p:cNvSpPr/>
          <p:nvPr/>
        </p:nvSpPr>
        <p:spPr>
          <a:xfrm>
            <a:off x="3017520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Potenciación</a:t>
            </a:r>
            <a:endParaRPr lang="en-US" sz="1100" dirty="0"/>
          </a:p>
        </p:txBody>
      </p:sp>
      <p:sp>
        <p:nvSpPr>
          <p:cNvPr id="118" name="Shape 115"/>
          <p:cNvSpPr/>
          <p:nvPr/>
        </p:nvSpPr>
        <p:spPr>
          <a:xfrm>
            <a:off x="5669280" y="281635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9" name="Text 116"/>
          <p:cNvSpPr/>
          <p:nvPr/>
        </p:nvSpPr>
        <p:spPr>
          <a:xfrm>
            <a:off x="5760720" y="2953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Media</a:t>
            </a:r>
            <a:endParaRPr lang="en-US" sz="1100" dirty="0"/>
          </a:p>
        </p:txBody>
      </p:sp>
      <p:sp>
        <p:nvSpPr>
          <p:cNvPr id="120" name="Shape 117"/>
          <p:cNvSpPr/>
          <p:nvPr/>
        </p:nvSpPr>
        <p:spPr>
          <a:xfrm>
            <a:off x="7680960" y="281635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1" name="Text 118"/>
          <p:cNvSpPr/>
          <p:nvPr/>
        </p:nvSpPr>
        <p:spPr>
          <a:xfrm>
            <a:off x="7772400" y="2953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Con cuidado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365760" y="3593592"/>
            <a:ext cx="841248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3" name="Text 120"/>
          <p:cNvSpPr/>
          <p:nvPr/>
        </p:nvSpPr>
        <p:spPr>
          <a:xfrm>
            <a:off x="502920" y="37307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Simple</a:t>
            </a:r>
            <a:endParaRPr lang="en-US" sz="1100" dirty="0"/>
          </a:p>
        </p:txBody>
      </p:sp>
      <p:sp>
        <p:nvSpPr>
          <p:cNvPr id="124" name="Shape 121"/>
          <p:cNvSpPr/>
          <p:nvPr/>
        </p:nvSpPr>
        <p:spPr>
          <a:xfrm>
            <a:off x="2926080" y="359359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5" name="Text 122"/>
          <p:cNvSpPr/>
          <p:nvPr/>
        </p:nvSpPr>
        <p:spPr>
          <a:xfrm>
            <a:off x="3017520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1100" dirty="0"/>
          </a:p>
        </p:txBody>
      </p:sp>
      <p:sp>
        <p:nvSpPr>
          <p:cNvPr id="126" name="Shape 123"/>
          <p:cNvSpPr/>
          <p:nvPr/>
        </p:nvSpPr>
        <p:spPr>
          <a:xfrm>
            <a:off x="5669280" y="359359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7" name="Text 124"/>
          <p:cNvSpPr/>
          <p:nvPr/>
        </p:nvSpPr>
        <p:spPr>
          <a:xfrm>
            <a:off x="576072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Alta*</a:t>
            </a:r>
            <a:endParaRPr lang="en-US" sz="1100" dirty="0"/>
          </a:p>
        </p:txBody>
      </p:sp>
      <p:sp>
        <p:nvSpPr>
          <p:cNvPr id="128" name="Shape 125"/>
          <p:cNvSpPr/>
          <p:nvPr/>
        </p:nvSpPr>
        <p:spPr>
          <a:xfrm>
            <a:off x="7680960" y="3593592"/>
            <a:ext cx="13716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9" name="Text 126"/>
          <p:cNvSpPr/>
          <p:nvPr/>
        </p:nvSpPr>
        <p:spPr>
          <a:xfrm>
            <a:off x="7772400" y="3730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Con cuidado</a:t>
            </a:r>
            <a:endParaRPr lang="en-US" sz="1000" dirty="0"/>
          </a:p>
        </p:txBody>
      </p:sp>
      <p:sp>
        <p:nvSpPr>
          <p:cNvPr id="130" name="Text 127"/>
          <p:cNvSpPr/>
          <p:nvPr/>
        </p:nvSpPr>
        <p:spPr>
          <a:xfrm>
            <a:off x="365760" y="460941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El Árbol Simple logra 100% en este dataset específico, pero colapsa en producción por Overfitting.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6400800" y="1371600"/>
            <a:ext cx="3657600" cy="2743200"/>
          </a:xfrm>
          <a:prstGeom prst="ellipse">
            <a:avLst/>
          </a:prstGeom>
          <a:solidFill>
            <a:srgbClr val="00F5FF">
              <a:alpha val="10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Shape 85"/>
          <p:cNvSpPr/>
          <p:nvPr/>
        </p:nvSpPr>
        <p:spPr>
          <a:xfrm>
            <a:off x="0" y="1828800"/>
            <a:ext cx="2743200" cy="2743200"/>
          </a:xfrm>
          <a:prstGeom prst="ellipse">
            <a:avLst/>
          </a:prstGeom>
          <a:solidFill>
            <a:srgbClr val="9B59FF">
              <a:alpha val="9000"/>
            </a:srgbClr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Text 86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Nivel Pro: Stacking Classifier</a:t>
            </a:r>
            <a:endParaRPr lang="en-US" sz="2600" dirty="0"/>
          </a:p>
        </p:txBody>
      </p:sp>
      <p:sp>
        <p:nvSpPr>
          <p:cNvPr id="89" name="Shape 87"/>
          <p:cNvSpPr/>
          <p:nvPr/>
        </p:nvSpPr>
        <p:spPr>
          <a:xfrm>
            <a:off x="502920" y="694944"/>
            <a:ext cx="8138160" cy="228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"/>
            <a:ext cx="411480" cy="411480"/>
          </a:xfrm>
          <a:prstGeom prst="rect">
            <a:avLst/>
          </a:prstGeom>
        </p:spPr>
      </p:pic>
      <p:sp>
        <p:nvSpPr>
          <p:cNvPr id="91" name="Text 88"/>
          <p:cNvSpPr/>
          <p:nvPr/>
        </p:nvSpPr>
        <p:spPr>
          <a:xfrm>
            <a:off x="502920" y="749808"/>
            <a:ext cx="1645920" cy="256032"/>
          </a:xfrm>
          <a:prstGeom prst="rect">
            <a:avLst/>
          </a:prstGeom>
          <a:solidFill>
            <a:srgbClr val="FFB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PRO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36576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1  ·  Modelos Base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365760" y="1463040"/>
            <a:ext cx="2194560" cy="1280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4" name="Shape 91"/>
          <p:cNvSpPr/>
          <p:nvPr/>
        </p:nvSpPr>
        <p:spPr>
          <a:xfrm>
            <a:off x="365760" y="1463040"/>
            <a:ext cx="64008" cy="12801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72768"/>
            <a:ext cx="384048" cy="384048"/>
          </a:xfrm>
          <a:prstGeom prst="rect">
            <a:avLst/>
          </a:prstGeom>
        </p:spPr>
      </p:pic>
      <p:sp>
        <p:nvSpPr>
          <p:cNvPr id="96" name="Text 92"/>
          <p:cNvSpPr/>
          <p:nvPr/>
        </p:nvSpPr>
        <p:spPr>
          <a:xfrm>
            <a:off x="1005840" y="15727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530352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</a:t>
            </a:r>
            <a:endParaRPr lang="en-US" sz="850" dirty="0"/>
          </a:p>
        </p:txBody>
      </p:sp>
      <p:sp>
        <p:nvSpPr>
          <p:cNvPr id="98" name="Shape 94"/>
          <p:cNvSpPr/>
          <p:nvPr/>
        </p:nvSpPr>
        <p:spPr>
          <a:xfrm>
            <a:off x="2834640" y="1463040"/>
            <a:ext cx="2194560" cy="128016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9" name="Shape 95"/>
          <p:cNvSpPr/>
          <p:nvPr/>
        </p:nvSpPr>
        <p:spPr>
          <a:xfrm>
            <a:off x="2834640" y="1463040"/>
            <a:ext cx="64008" cy="128016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1572768"/>
            <a:ext cx="384048" cy="384048"/>
          </a:xfrm>
          <a:prstGeom prst="rect">
            <a:avLst/>
          </a:prstGeom>
        </p:spPr>
      </p:pic>
      <p:sp>
        <p:nvSpPr>
          <p:cNvPr id="101" name="Text 96"/>
          <p:cNvSpPr/>
          <p:nvPr/>
        </p:nvSpPr>
        <p:spPr>
          <a:xfrm>
            <a:off x="3474720" y="15727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Boosting</a:t>
            </a:r>
            <a:endParaRPr lang="en-US" sz="1100" dirty="0"/>
          </a:p>
        </p:txBody>
      </p:sp>
      <p:sp>
        <p:nvSpPr>
          <p:cNvPr id="102" name="Text 97"/>
          <p:cNvSpPr/>
          <p:nvPr/>
        </p:nvSpPr>
        <p:spPr>
          <a:xfrm>
            <a:off x="2999232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max_depth=3</a:t>
            </a:r>
            <a:endParaRPr lang="en-US" sz="850" dirty="0"/>
          </a:p>
        </p:txBody>
      </p:sp>
      <p:sp>
        <p:nvSpPr>
          <p:cNvPr id="103" name="Text 98"/>
          <p:cNvSpPr/>
          <p:nvPr/>
        </p:nvSpPr>
        <p:spPr>
          <a:xfrm>
            <a:off x="114300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2400" dirty="0"/>
          </a:p>
        </p:txBody>
      </p:sp>
      <p:sp>
        <p:nvSpPr>
          <p:cNvPr id="104" name="Text 99"/>
          <p:cNvSpPr/>
          <p:nvPr/>
        </p:nvSpPr>
        <p:spPr>
          <a:xfrm>
            <a:off x="356616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2400" dirty="0"/>
          </a:p>
        </p:txBody>
      </p:sp>
      <p:sp>
        <p:nvSpPr>
          <p:cNvPr id="105" name="Text 100"/>
          <p:cNvSpPr/>
          <p:nvPr/>
        </p:nvSpPr>
        <p:spPr>
          <a:xfrm>
            <a:off x="3657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2  ·  Modelo Meta (Árbitro Final)</a:t>
            </a:r>
            <a:endParaRPr lang="en-US" sz="1000" dirty="0"/>
          </a:p>
        </p:txBody>
      </p:sp>
      <p:sp>
        <p:nvSpPr>
          <p:cNvPr id="106" name="Shape 101"/>
          <p:cNvSpPr/>
          <p:nvPr/>
        </p:nvSpPr>
        <p:spPr>
          <a:xfrm>
            <a:off x="365760" y="3657600"/>
            <a:ext cx="466344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7" name="Shape 102"/>
          <p:cNvSpPr/>
          <p:nvPr/>
        </p:nvSpPr>
        <p:spPr>
          <a:xfrm>
            <a:off x="365760" y="3657600"/>
            <a:ext cx="64008" cy="100584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67328"/>
            <a:ext cx="438912" cy="438912"/>
          </a:xfrm>
          <a:prstGeom prst="rect">
            <a:avLst/>
          </a:prstGeom>
        </p:spPr>
      </p:pic>
      <p:sp>
        <p:nvSpPr>
          <p:cNvPr id="109" name="Text 103"/>
          <p:cNvSpPr/>
          <p:nvPr/>
        </p:nvSpPr>
        <p:spPr>
          <a:xfrm>
            <a:off x="1078992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LogisticRegression(solver='lbfgs', max_iter=1000)</a:t>
            </a:r>
            <a:endParaRPr lang="en-US" sz="1000" dirty="0"/>
          </a:p>
        </p:txBody>
      </p:sp>
      <p:sp>
        <p:nvSpPr>
          <p:cNvPr id="110" name="Text 104"/>
          <p:cNvSpPr/>
          <p:nvPr/>
        </p:nvSpPr>
        <p:spPr>
          <a:xfrm>
            <a:off x="1078992" y="4133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cv=5  ·  Cross-validation en training</a:t>
            </a:r>
            <a:endParaRPr lang="en-US" sz="900" dirty="0"/>
          </a:p>
        </p:txBody>
      </p:sp>
      <p:sp>
        <p:nvSpPr>
          <p:cNvPr id="111" name="Shape 105"/>
          <p:cNvSpPr/>
          <p:nvPr/>
        </p:nvSpPr>
        <p:spPr>
          <a:xfrm>
            <a:off x="5440680" y="1097280"/>
            <a:ext cx="3337560" cy="361188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2" name="Shape 106"/>
          <p:cNvSpPr/>
          <p:nvPr/>
        </p:nvSpPr>
        <p:spPr>
          <a:xfrm>
            <a:off x="5440680" y="1097280"/>
            <a:ext cx="64008" cy="3611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3" name="Text 107"/>
          <p:cNvSpPr/>
          <p:nvPr/>
        </p:nvSpPr>
        <p:spPr>
          <a:xfrm>
            <a:off x="5605272" y="1161288"/>
            <a:ext cx="1645920" cy="256032"/>
          </a:xfrm>
          <a:prstGeom prst="rect">
            <a:avLst/>
          </a:prstGeom>
          <a:solidFill>
            <a:srgbClr val="FFB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¿CÓMO FUNCIONA?</a:t>
            </a:r>
            <a:endParaRPr lang="en-US" sz="900" dirty="0"/>
          </a:p>
        </p:txBody>
      </p:sp>
      <p:sp>
        <p:nvSpPr>
          <p:cNvPr id="114" name="Text 108"/>
          <p:cNvSpPr/>
          <p:nvPr/>
        </p:nvSpPr>
        <p:spPr>
          <a:xfrm>
            <a:off x="5596128" y="15087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</a:t>
            </a: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y GB generan predicciones independientes
</a:t>
            </a: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</a:t>
            </a: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 salidas se convierten en
nuevas 'features'
</a:t>
            </a: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</a:t>
            </a: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LogReg aprende qué modelo
confiar en cada caso
</a:t>
            </a: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</a:t>
            </a: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 el consenso Y la
potenciación
</a:t>
            </a: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</a:t>
            </a: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Técnica usada por grandes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tecnológicas en producción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5544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1945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8346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4747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7548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3949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3504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7512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1520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95528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95360" y="2286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144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544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1945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28346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747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1148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5528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95360" y="109728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5544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1945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346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747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1148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7548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3949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03504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67512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1520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595360" y="196596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9144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15544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21945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34747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1148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3949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603504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667512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31520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795528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8595360" y="283464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9144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5544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1945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28346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34747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41148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47548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3949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603504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667512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731520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795528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8595360" y="370332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5544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21945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28346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34747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41148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53949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603504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667512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731520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795528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8595360" y="4572000"/>
            <a:ext cx="41148" cy="41148"/>
          </a:xfrm>
          <a:prstGeom prst="ellipse">
            <a:avLst/>
          </a:prstGeom>
          <a:solidFill>
            <a:srgbClr val="1A2E4A">
              <a:alpha val="80000"/>
            </a:srgbClr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2743200" y="457200"/>
            <a:ext cx="4572000" cy="4572000"/>
          </a:xfrm>
          <a:prstGeom prst="ellipse">
            <a:avLst/>
          </a:prstGeom>
          <a:solidFill>
            <a:srgbClr val="00F5FF">
              <a:alpha val="11000"/>
            </a:srgbClr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Shape 85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81020"/>
          </a:solidFill>
          <a:ln w="12700">
            <a:solidFill>
              <a:srgbClr val="08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Text 86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Conclusiones del Módulo 24</a:t>
            </a:r>
            <a:endParaRPr lang="en-US" sz="2600" dirty="0"/>
          </a:p>
        </p:txBody>
      </p:sp>
      <p:sp>
        <p:nvSpPr>
          <p:cNvPr id="89" name="Text 87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Ensambles · Random Forest · Boosting · Stacking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20040" y="1508760"/>
            <a:ext cx="416052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1" name="Shape 89"/>
          <p:cNvSpPr/>
          <p:nvPr/>
        </p:nvSpPr>
        <p:spPr>
          <a:xfrm>
            <a:off x="320040" y="1508760"/>
            <a:ext cx="64008" cy="14173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8488"/>
            <a:ext cx="411480" cy="411480"/>
          </a:xfrm>
          <a:prstGeom prst="rect">
            <a:avLst/>
          </a:prstGeom>
        </p:spPr>
      </p:pic>
      <p:sp>
        <p:nvSpPr>
          <p:cNvPr id="93" name="Text 90"/>
          <p:cNvSpPr/>
          <p:nvPr/>
        </p:nvSpPr>
        <p:spPr>
          <a:xfrm>
            <a:off x="1033272" y="1618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LabelEncoder</a:t>
            </a:r>
            <a:endParaRPr lang="en-US" sz="1300" dirty="0"/>
          </a:p>
        </p:txBody>
      </p:sp>
      <p:sp>
        <p:nvSpPr>
          <p:cNvPr id="94" name="Text 91"/>
          <p:cNvSpPr/>
          <p:nvPr/>
        </p:nvSpPr>
        <p:spPr>
          <a:xfrm>
            <a:off x="502920" y="2103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Conversión eficiente de categorías a números. Mejor que dummies para árboles.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4709160" y="1508760"/>
            <a:ext cx="416052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6" name="Shape 93"/>
          <p:cNvSpPr/>
          <p:nvPr/>
        </p:nvSpPr>
        <p:spPr>
          <a:xfrm>
            <a:off x="4709160" y="1508760"/>
            <a:ext cx="64008" cy="14173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18488"/>
            <a:ext cx="411480" cy="411480"/>
          </a:xfrm>
          <a:prstGeom prst="rect">
            <a:avLst/>
          </a:prstGeom>
        </p:spPr>
      </p:pic>
      <p:sp>
        <p:nvSpPr>
          <p:cNvPr id="98" name="Text 94"/>
          <p:cNvSpPr/>
          <p:nvPr/>
        </p:nvSpPr>
        <p:spPr>
          <a:xfrm>
            <a:off x="5422392" y="1618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99" name="Text 95"/>
          <p:cNvSpPr/>
          <p:nvPr/>
        </p:nvSpPr>
        <p:spPr>
          <a:xfrm>
            <a:off x="4892040" y="2103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Trade-off: perdemos el diagrama de flujo, ganamos robustez y Feature Importance.</a:t>
            </a:r>
            <a:endParaRPr lang="en-US" sz="950" dirty="0"/>
          </a:p>
        </p:txBody>
      </p:sp>
      <p:sp>
        <p:nvSpPr>
          <p:cNvPr id="100" name="Shape 96"/>
          <p:cNvSpPr/>
          <p:nvPr/>
        </p:nvSpPr>
        <p:spPr>
          <a:xfrm>
            <a:off x="320040" y="3154680"/>
            <a:ext cx="416052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1" name="Shape 97"/>
          <p:cNvSpPr/>
          <p:nvPr/>
        </p:nvSpPr>
        <p:spPr>
          <a:xfrm>
            <a:off x="320040" y="3154680"/>
            <a:ext cx="64008" cy="14173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64408"/>
            <a:ext cx="411480" cy="411480"/>
          </a:xfrm>
          <a:prstGeom prst="rect">
            <a:avLst/>
          </a:prstGeom>
        </p:spPr>
      </p:pic>
      <p:sp>
        <p:nvSpPr>
          <p:cNvPr id="103" name="Text 98"/>
          <p:cNvSpPr/>
          <p:nvPr/>
        </p:nvSpPr>
        <p:spPr>
          <a:xfrm>
            <a:off x="1033272" y="3264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 vs GB</a:t>
            </a:r>
            <a:endParaRPr lang="en-US" sz="1300" dirty="0"/>
          </a:p>
        </p:txBody>
      </p:sp>
      <p:sp>
        <p:nvSpPr>
          <p:cNvPr id="104" name="Text 99"/>
          <p:cNvSpPr/>
          <p:nvPr/>
        </p:nvSpPr>
        <p:spPr>
          <a:xfrm>
            <a:off x="50292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AdaBoost batalla con multiclase. Gradient Boosting gestiona la pérdida con maestría.</a:t>
            </a:r>
            <a:endParaRPr lang="en-US" sz="950" dirty="0"/>
          </a:p>
        </p:txBody>
      </p:sp>
      <p:sp>
        <p:nvSpPr>
          <p:cNvPr id="105" name="Shape 100"/>
          <p:cNvSpPr/>
          <p:nvPr/>
        </p:nvSpPr>
        <p:spPr>
          <a:xfrm>
            <a:off x="4709160" y="3154680"/>
            <a:ext cx="416052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6" name="Shape 101"/>
          <p:cNvSpPr/>
          <p:nvPr/>
        </p:nvSpPr>
        <p:spPr>
          <a:xfrm>
            <a:off x="4709160" y="3154680"/>
            <a:ext cx="64008" cy="1417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64408"/>
            <a:ext cx="411480" cy="411480"/>
          </a:xfrm>
          <a:prstGeom prst="rect">
            <a:avLst/>
          </a:prstGeom>
        </p:spPr>
      </p:pic>
      <p:sp>
        <p:nvSpPr>
          <p:cNvPr id="108" name="Text 102"/>
          <p:cNvSpPr/>
          <p:nvPr/>
        </p:nvSpPr>
        <p:spPr>
          <a:xfrm>
            <a:off x="5422392" y="3264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Stacking</a:t>
            </a:r>
            <a:endParaRPr lang="en-US" sz="1300" dirty="0"/>
          </a:p>
        </p:txBody>
      </p:sp>
      <p:sp>
        <p:nvSpPr>
          <p:cNvPr id="109" name="Text 103"/>
          <p:cNvSpPr/>
          <p:nvPr/>
        </p:nvSpPr>
        <p:spPr>
          <a:xfrm>
            <a:off x="489204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ensamble de ensambles. Combina consenso + potenciación bajo un árbitro final.</a:t>
            </a:r>
            <a:endParaRPr lang="en-US" sz="950" dirty="0"/>
          </a:p>
        </p:txBody>
      </p:sp>
      <p:sp>
        <p:nvSpPr>
          <p:cNvPr id="110" name="Shape 10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081020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1" name="Text 105"/>
          <p:cNvSpPr/>
          <p:nvPr/>
        </p:nvSpPr>
        <p:spPr>
          <a:xfrm>
            <a:off x="411480" y="47274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Sabiduría colectiva &gt; Experto aislado  ·  Módulo 24 completado ✓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809</Words>
  <Application>Microsoft Office PowerPoint</Application>
  <PresentationFormat>Presentación en pantalla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Ensambles: Consenso y Potenciación</dc:title>
  <dc:subject>PptxGenJS Presentation</dc:subject>
  <dc:creator>PptxGenJS</dc:creator>
  <cp:lastModifiedBy>Eliuth Misraim Rojas Villavicencio</cp:lastModifiedBy>
  <cp:revision>2</cp:revision>
  <dcterms:created xsi:type="dcterms:W3CDTF">2026-05-28T01:07:29Z</dcterms:created>
  <dcterms:modified xsi:type="dcterms:W3CDTF">2026-05-28T01:13:43Z</dcterms:modified>
</cp:coreProperties>
</file>