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67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">
            <a:extLst>
              <a:ext uri="{FF2B5EF4-FFF2-40B4-BE49-F238E27FC236}">
                <a16:creationId xmlns:a16="http://schemas.microsoft.com/office/drawing/2014/main" id="{9BADFDCD-FEF4-569E-6D28-256E98B5585D}"/>
              </a:ext>
            </a:extLst>
          </p:cNvPr>
          <p:cNvSpPr/>
          <p:nvPr/>
        </p:nvSpPr>
        <p:spPr>
          <a:xfrm>
            <a:off x="6583679" y="4010573"/>
            <a:ext cx="2167128" cy="45720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ACC71115-87C9-BC6F-EF24-48522A9E78D3}"/>
              </a:ext>
            </a:extLst>
          </p:cNvPr>
          <p:cNvSpPr/>
          <p:nvPr/>
        </p:nvSpPr>
        <p:spPr>
          <a:xfrm>
            <a:off x="4480560" y="4000499"/>
            <a:ext cx="1450218" cy="45720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0C912F3D-94CA-5B40-77DF-D3F673F6AEA8}"/>
              </a:ext>
            </a:extLst>
          </p:cNvPr>
          <p:cNvSpPr/>
          <p:nvPr/>
        </p:nvSpPr>
        <p:spPr>
          <a:xfrm>
            <a:off x="2362784" y="4000500"/>
            <a:ext cx="1450218" cy="45720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68FFA1C1-0272-A47A-25D3-C93E863CFE4D}"/>
              </a:ext>
            </a:extLst>
          </p:cNvPr>
          <p:cNvSpPr/>
          <p:nvPr/>
        </p:nvSpPr>
        <p:spPr>
          <a:xfrm>
            <a:off x="393193" y="4000500"/>
            <a:ext cx="1450218" cy="45720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4846320" y="2701355"/>
            <a:ext cx="0" cy="49904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175504" y="2701355"/>
            <a:ext cx="0" cy="49904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846320" y="2701355"/>
            <a:ext cx="32918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504688" y="2809843"/>
            <a:ext cx="0" cy="39055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833872" y="2809843"/>
            <a:ext cx="0" cy="39055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504688" y="2809843"/>
            <a:ext cx="329184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010912" y="1941938"/>
            <a:ext cx="0" cy="759417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669280" y="1941938"/>
            <a:ext cx="0" cy="867905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010912" y="1941938"/>
            <a:ext cx="658368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163056" y="2592866"/>
            <a:ext cx="0" cy="60753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492240" y="2592866"/>
            <a:ext cx="0" cy="60753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163056" y="2592866"/>
            <a:ext cx="329184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821424" y="2874936"/>
            <a:ext cx="0" cy="32546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7150608" y="2874936"/>
            <a:ext cx="0" cy="32546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821424" y="2874936"/>
            <a:ext cx="329184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327648" y="2180612"/>
            <a:ext cx="0" cy="412255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986016" y="2180612"/>
            <a:ext cx="0" cy="694324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327648" y="2180612"/>
            <a:ext cx="658368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79792" y="2484378"/>
            <a:ext cx="0" cy="71602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808976" y="2484378"/>
            <a:ext cx="0" cy="71602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479792" y="2484378"/>
            <a:ext cx="329184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8138160" y="2940028"/>
            <a:ext cx="0" cy="26037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8467344" y="2940028"/>
            <a:ext cx="0" cy="26037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8138160" y="2940028"/>
            <a:ext cx="329184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7644384" y="2419285"/>
            <a:ext cx="0" cy="65093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8302752" y="2419285"/>
            <a:ext cx="0" cy="520743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644384" y="2419285"/>
            <a:ext cx="658368" cy="0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5340096" y="1399497"/>
            <a:ext cx="0" cy="542441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656832" y="1399497"/>
            <a:ext cx="0" cy="781115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5340096" y="1399497"/>
            <a:ext cx="1316736" cy="0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5998464" y="900452"/>
            <a:ext cx="0" cy="499045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7973568" y="900452"/>
            <a:ext cx="0" cy="1518834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998464" y="900452"/>
            <a:ext cx="1975104" cy="0"/>
          </a:xfrm>
          <a:prstGeom prst="line">
            <a:avLst/>
          </a:prstGeom>
          <a:noFill/>
          <a:ln w="28575">
            <a:solidFill>
              <a:srgbClr val="8D9B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4663440" y="1724961"/>
            <a:ext cx="4069080" cy="0"/>
          </a:xfrm>
          <a:prstGeom prst="line">
            <a:avLst/>
          </a:prstGeom>
          <a:noFill/>
          <a:ln w="28575">
            <a:solidFill>
              <a:srgbClr val="DBE4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 txBox="1"/>
          <p:nvPr/>
        </p:nvSpPr>
        <p:spPr>
          <a:xfrm>
            <a:off x="45720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Guía de estudio · Tema 26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10058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jerárquico y PCA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2514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notebook a la explicación: qué hace cada paso, cómo leer cada gráfica y qué errores evitar.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000500"/>
            <a:ext cx="669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1126974" y="4148501"/>
            <a:ext cx="71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40005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2874703" y="4148501"/>
            <a:ext cx="805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40005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4945113" y="4148501"/>
            <a:ext cx="789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0" y="40005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36 %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7580565" y="4148501"/>
            <a:ext cx="1151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en 2D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 del notebook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en las diapositivas 3 y 4; después, un paso del notebook por diapositiva.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Ingesta y escala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27432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484632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Elegir 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9494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Asignar y perfilar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400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9 y 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27432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Recomendar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484632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Pro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69494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Glosario y repaso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13 y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1 de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 aglomerativo y Ward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ideas_clave.py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99262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13892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539496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leer_dendrograma.md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bottom-up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cliente empieza solo; se une el par más parecido hasta quedar un solo grupo.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 err="1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distancia_euclidiana</a:t>
            </a: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 = raíz(suma (xi - yi)^2)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Línea recta entre dos clientes en el espacio de 9 variables.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ward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criterio de enlace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 los grupos cuya fusión aumenta menos la varianza interna: grupos compactos.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 X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(las hojas)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 Y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de fusión: más alto = grupos más distintos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línea horizontal cruza tantas ramas como clústeres quieras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un salto grande entre una fusión y la siguiente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2 de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PCA: componentes y varianza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conceptos_pca.py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99262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13892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539496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tres_ideas.md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componentes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PC1, PC2, ...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Combinaciones lineales de las variables, no correlacionadas y ordenadas por varianza.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varianza_explicada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% por componente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Cuánta información conserva cada eje. Con 2 ejes no se conserva toda.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cargas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loadings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 de cada variable en un componente: sirven para interpretar el eje.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 1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clustering usa las 9 variables; el PCA solo sirve para dibujar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 2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2D los grupos pueden verse encimados aunque en 9D estén separados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 3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signo de un eje es arbitrario; interpreta qué variables se agrupan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1 · ingesta y escala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Cargar, auditar y estandarizar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celdas_1_a_3.py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pd.read_excel("Amazon.xlsx").set_index("Cliente")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 x 9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StandardScaler().fit_transform(df)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 = (x - media) / desv_est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x 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x 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8902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58902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0.14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58902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escalar vs. escalado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nulos ni repetidos. Las desviaciones van de ~9 a ~188: sin escalar, Durabilidad domina la distancia.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Agrupar sin escalar: el ARI contra el resultado correcto es solo 0.14.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2 · dendrograma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Construir y leer el árbol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celdas_4_y_5.py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linkage(X, method="ward", metric="euclidean")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 = (Z[-k,2] + Z[-(k-1),2]) / 2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punto medio del salto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labels=df.index, color_threshold=umbral)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Dendrograma real de los 100 clientes con la línea de corte en 9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4075"/>
            <a:ext cx="4846320" cy="209272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 es una fusión y su altura es la distancia de Ward. La línea de corte (9.56) cruza 4 ramas.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Cortar en un número redondo: el 10 original quedaba pegado a una fusión (10.15).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3 · elegir 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clústeres?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celdas_6_y_7.py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saltos = [Z[-(k-1),2] - Z[-k,2] for k in ks]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 = silhouette_score(X, fcluster(Z, k, criterion="maxclust"))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Saltos del dendrograma y silueta por número de clúste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0576"/>
            <a:ext cx="4846320" cy="151972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mayor salto está en k = 3 y la silueta ronda 0.11 para todo k (razonable desde 0.25). Elegimos k = 4.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Llamar "óptimo matemático" a k = 4: es una decisión justificada.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4 · asignar y perfilar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Etiquetar clientes e interpretar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celdas_8_a_10.py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AgglomerativeClustering(n_clusters=4, linkage="ward")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etiquetas = modelo.fit_predict(X)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perfil_z = df_escalado.groupby(etiquetas).mean()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heatmap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Mapa de calor con el perfil estandarizado de cada clú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5786"/>
            <a:ext cx="4846320" cy="19493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Tamaños 21, 24, 36 y 19. Cian = sobre el promedio. 0 educativos, 1 paquetes grandes, 2 baja valoración, 3 calidad y durabilidad.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Fiarse del número de clúster: es arbitrario. Interpreta el perfil.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5 · PCA (1 de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explicada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celda_11.py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pca_completo = PCA().fit(X)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var_exp = pca_completo.explained_variance_ratio_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var_exp.cumsum()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componentes = 36.1 %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Varianza explicada por componente y acumula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3" y="2468880"/>
            <a:ext cx="4283774" cy="2103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 + PC2 suman 36.1 % y hacen falta 7 componentes para llegar al 80 %: la información está repartida.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Decir que 2 ejes no pierden información: se queda fuera el 63.9 %.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5 · PCA (2 de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Dibujar en 2D e interpretar ejes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celdas_12_y_13.py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PCA(n_components=2); comp = pca.fit_transform(X)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para dibujar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cargas = pd.DataFrame(pca.components_.T, index=df.columns)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Clientes en el plano PC1 y PC2 coloreados por clú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42" y="2468880"/>
            <a:ext cx="3320716" cy="2103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PC1: Estrellas, Velocidad y V. educativo. PC2: Paquete, Precio, Estrellas y Durabilidad (negativa).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Juzgar los clústeres por el 2D: el clustering usa las 9 variables.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6 · recomendar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afines por distancia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celda_14.py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= df_escalado[cluster == c].drop(index=cliente)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np.sqrt(((comp - df_escalado.loc[cliente])**2).sum(axis=1))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afines = dist.sort_values().head(3)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Stephania · razonable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Lydia · frontera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Salome · frontera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silueta individual mide la solidez de la asignación: Stephania es razonable; Lydia y Salome están en la frontera.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Prometer productos: la base no tiene compras. Falta cruzar con el historial.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Pro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 MotorRecomendacionAmazon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clase_pro.py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= MotorRecomendacionAmazon("Amazon.xlsx", n_clusters=4).entrenar_motor()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motor.recomendar("Salome")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motor.asignar_nuevo_cliente({...9 variables...})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predict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AgglomerativeClustering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8902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58902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58902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 más cercano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Encapsula ingesta, escala, clustering y recomendación. Los errores se lanzan con raise y las etiquetas se guardan aparte.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Asumir que hay predict: no lo hay; el cliente nuevo va al centroide más cercano.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Glosario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cliente empieza solo y se fusionan los más parecidos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 euclidiana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línea recta entre dos puntos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Ward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fusión con menor aumento de varianza interna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de fusiones; la altura es la distancia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Estandarización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0 y desviación 1 por variable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−1 a 1: qué tan bien encaja un punto en su clúster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 particiones idénticas; 0 = azar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Componente principal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combinación lineal, no correlacionada, ordenada por varianza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explicada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porcentaje de información de cada componente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Cargas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 de cada variable en un componente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Repaso y ejercicios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514600"/>
          </a:xfrm>
          <a:prstGeom prst="roundRect">
            <a:avLst>
              <a:gd name="adj" fmla="val 2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repaso.py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7863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¿Por qué estandarizar?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variables de mayor escala dominarían la distancia; sin escalar el ARI es 0.14.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¿k = 4 es el óptimo?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No: el mayor salto está en k = 3 y la silueta es plana. Es una decisión.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¿Cuánta información muestra el 2D?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36.1 % de la varianza: una vista parcial.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¿Qué significa una silueta de 0.08?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cliente está en la frontera entre dos grupos; su recomendación es menos fiable.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¿Cómo se asigna un cliente nuevo?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escala con el scaler ajustado y se toma el centroide más cercano.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94360" y="37856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40664" y="37856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86968" y="37856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1143000" y="373075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ejercicios.md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Prueba k = 3 y k = 5 y compáralos con ARI.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Cambia linkage a average o complete y compara la silueta.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Agrupa sobre PC1 y PC2 y compara con las 9 variables.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1513</Words>
  <Application>Microsoft Office PowerPoint</Application>
  <PresentationFormat>Presentación en pantalla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26 · Guía de estudio</dc:title>
  <dc:subject>PptxGenJS Presentation</dc:subject>
  <dc:creator>PptxGenJS</dc:creator>
  <cp:lastModifiedBy>Eliuth Misraim Rojas Villavicencio</cp:lastModifiedBy>
  <cp:revision>3</cp:revision>
  <dcterms:created xsi:type="dcterms:W3CDTF">2026-09-28T22:34:14Z</dcterms:created>
  <dcterms:modified xsi:type="dcterms:W3CDTF">2026-09-30T19:10:56Z</dcterms:modified>
</cp:coreProperties>
</file>