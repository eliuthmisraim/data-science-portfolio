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DBE4FF"/>
                </a:solidFill>
                <a:latin typeface="Consolas"/>
              </a:defRPr>
            </a:pPr>
            <a:r>
              <a:rPr sz="1200" b="0" i="0" u="none" strike="noStrike">
                <a:solidFill>
                  <a:srgbClr val="DBE4FF"/>
                </a:solidFill>
                <a:latin typeface="Consolas"/>
              </a:rPr>
              <a:t>Desviación estándar original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Desviación estándar original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BE4F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Durabilidad</c:v>
                  </c:pt>
                  <c:pt idx="1">
                    <c:v>Paquete</c:v>
                  </c:pt>
                  <c:pt idx="2">
                    <c:v>Imagen</c:v>
                  </c:pt>
                  <c:pt idx="3">
                    <c:v>Calidad</c:v>
                  </c:pt>
                  <c:pt idx="4">
                    <c:v>Velocidad</c:v>
                  </c:pt>
                  <c:pt idx="5">
                    <c:v>Precio</c:v>
                  </c:pt>
                  <c:pt idx="6">
                    <c:v>Estrellas</c:v>
                  </c:pt>
                  <c:pt idx="7">
                    <c:v>V. educativo</c:v>
                  </c:pt>
                  <c:pt idx="8">
                    <c:v>Retorno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188</c:v>
                </c:pt>
                <c:pt idx="1">
                  <c:v>163.9</c:v>
                </c:pt>
                <c:pt idx="2">
                  <c:v>121.8</c:v>
                </c:pt>
                <c:pt idx="3">
                  <c:v>110.6</c:v>
                </c:pt>
                <c:pt idx="4">
                  <c:v>95</c:v>
                </c:pt>
                <c:pt idx="5">
                  <c:v>65</c:v>
                </c:pt>
                <c:pt idx="6">
                  <c:v>11.7</c:v>
                </c:pt>
                <c:pt idx="7">
                  <c:v>11.3</c:v>
                </c:pt>
                <c:pt idx="8">
                  <c:v>9.6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DBE4F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BE4F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BC9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DBE4FF"/>
                </a:solidFill>
                <a:latin typeface="Consolas"/>
              </a:defRPr>
            </a:pPr>
            <a:r>
              <a:rPr sz="1200" b="0" i="0" u="none" strike="noStrike">
                <a:solidFill>
                  <a:srgbClr val="DBE4FF"/>
                </a:solidFill>
                <a:latin typeface="Consolas"/>
              </a:rPr>
              <a:t>Salto del dendrograma por 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Salto del dendrograma por k</c:v>
                </c:pt>
              </c:strCache>
            </c:strRef>
          </c:tx>
          <c:spPr>
            <a:solidFill>
              <a:srgbClr val="3A4F9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BE4F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4F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4F9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4F9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4F9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A4F9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0.55</c:v>
                </c:pt>
                <c:pt idx="1">
                  <c:v>3.25</c:v>
                </c:pt>
                <c:pt idx="2">
                  <c:v>1.18</c:v>
                </c:pt>
                <c:pt idx="3">
                  <c:v>0.21</c:v>
                </c:pt>
                <c:pt idx="4">
                  <c:v>0.31</c:v>
                </c:pt>
                <c:pt idx="5">
                  <c:v>0.71</c:v>
                </c:pt>
                <c:pt idx="6">
                  <c:v>0.14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DBE4F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BE4F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5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BC9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DBE4FF"/>
                </a:solidFill>
                <a:latin typeface="Consolas"/>
              </a:defRPr>
            </a:pPr>
            <a:r>
              <a:rPr sz="1200" b="0" i="0" u="none" strike="noStrike">
                <a:solidFill>
                  <a:srgbClr val="DBE4FF"/>
                </a:solidFill>
                <a:latin typeface="Consolas"/>
              </a:rPr>
              <a:t>Varianza acumulada por nº de componentes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Varianza acumulada por nº de componentes (%)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BE4F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DE8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DE8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DE8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DE80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19.4</c:v>
                </c:pt>
                <c:pt idx="1">
                  <c:v>36.1</c:v>
                </c:pt>
                <c:pt idx="2">
                  <c:v>48.6</c:v>
                </c:pt>
                <c:pt idx="3">
                  <c:v>60.5</c:v>
                </c:pt>
                <c:pt idx="4">
                  <c:v>71.2</c:v>
                </c:pt>
                <c:pt idx="5">
                  <c:v>80</c:v>
                </c:pt>
                <c:pt idx="6">
                  <c:v>88.3</c:v>
                </c:pt>
                <c:pt idx="7">
                  <c:v>95.5</c:v>
                </c:pt>
                <c:pt idx="8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DBE4F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BE4F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2535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BC9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DBE4FF"/>
                </a:solidFill>
                <a:latin typeface="Consolas"/>
              </a:defRPr>
            </a:pPr>
            <a:r>
              <a:rPr sz="1200" b="0" i="0" u="none" strike="noStrike">
                <a:solidFill>
                  <a:srgbClr val="DBE4FF"/>
                </a:solidFill>
                <a:latin typeface="Consolas"/>
              </a:rPr>
              <a:t>Silueta por cliente (razonable ≥ 0.25)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Silueta por cliente (razonable ≥ 0.25)</c:v>
                </c:pt>
              </c:strCache>
            </c:strRef>
          </c:tx>
          <c:spPr>
            <a:solidFill>
              <a:srgbClr val="4ADE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BE4F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DE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Stephania</c:v>
                  </c:pt>
                  <c:pt idx="1">
                    <c:v>Lydia</c:v>
                  </c:pt>
                  <c:pt idx="2">
                    <c:v>Salome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0.32</c:v>
                </c:pt>
                <c:pt idx="1">
                  <c:v>0.12</c:v>
                </c:pt>
                <c:pt idx="2">
                  <c:v>0.08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DBE4F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BE4F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BC9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6320" y="2701355"/>
            <a:ext cx="0" cy="499045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75504" y="2701355"/>
            <a:ext cx="0" cy="499045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0" y="2701355"/>
            <a:ext cx="32918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04688" y="2809843"/>
            <a:ext cx="0" cy="390557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33872" y="2809843"/>
            <a:ext cx="0" cy="390557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04688" y="2809843"/>
            <a:ext cx="32918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10912" y="1941938"/>
            <a:ext cx="0" cy="759417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1941938"/>
            <a:ext cx="0" cy="867905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10912" y="1941938"/>
            <a:ext cx="658368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2592866"/>
            <a:ext cx="0" cy="60753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592866"/>
            <a:ext cx="0" cy="60753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2592866"/>
            <a:ext cx="329184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21424" y="2874936"/>
            <a:ext cx="0" cy="32546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0608" y="2874936"/>
            <a:ext cx="0" cy="32546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1424" y="2874936"/>
            <a:ext cx="329184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2180612"/>
            <a:ext cx="0" cy="412255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86016" y="2180612"/>
            <a:ext cx="0" cy="69432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2180612"/>
            <a:ext cx="658368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9792" y="2484378"/>
            <a:ext cx="0" cy="71602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08976" y="2484378"/>
            <a:ext cx="0" cy="71602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2484378"/>
            <a:ext cx="329184" cy="0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940028"/>
            <a:ext cx="0" cy="26037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67344" y="2940028"/>
            <a:ext cx="0" cy="26037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2940028"/>
            <a:ext cx="329184" cy="0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44384" y="2419285"/>
            <a:ext cx="0" cy="65093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2752" y="2419285"/>
            <a:ext cx="0" cy="520743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44384" y="2419285"/>
            <a:ext cx="658368" cy="0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0096" y="1399497"/>
            <a:ext cx="0" cy="542441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56832" y="1399497"/>
            <a:ext cx="0" cy="781115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40096" y="1399497"/>
            <a:ext cx="1316736" cy="0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98464" y="900452"/>
            <a:ext cx="0" cy="499045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3568" y="900452"/>
            <a:ext cx="0" cy="1518834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98464" y="900452"/>
            <a:ext cx="1975104" cy="0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1724961"/>
            <a:ext cx="4069080" cy="0"/>
          </a:xfrm>
          <a:prstGeom prst="line">
            <a:avLst/>
          </a:prstGeom>
          <a:noFill/>
          <a:ln w="28575">
            <a:solidFill>
              <a:srgbClr val="DBE4FF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457200" y="9144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Clustering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jerárquico y PCA</a:t>
            </a:r>
            <a:endParaRPr lang="en-US" sz="3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23317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Tema 26 · Cómo segmentar 100 clientes de Amazon sin etiquetas previas, y qué tan lejos confiar en el resultado.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256032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256032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6634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466344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segmentos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36 %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676656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varianza en 2D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pPr indent="0" marL="0">
              <a:buNone/>
            </a:pP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agrupa el clustering aglomerativo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7101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27101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27101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21615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ideas_clave.py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aglomerativo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bottom-up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cliente empieza solo; se une el par más parecido hasta quedar un solo grupo.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distancia_euclidiana</a:t>
            </a:r>
            <a:pPr indent="0" marL="0">
              <a:spcAft>
                <a:spcPts val="700"/>
              </a:spcAft>
              <a:buNone/>
            </a:pP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Línea recta entre dos clientes en el espacio de 9 variables.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ward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criterio de enlace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 los grupos cuya fusión sube menos la varianza interna.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27101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Shape 9"/>
          <p:cNvSpPr/>
          <p:nvPr/>
        </p:nvSpPr>
        <p:spPr>
          <a:xfrm>
            <a:off x="4992624" y="127101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138928" y="127101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94960" y="121615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leer_dendrograma.md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 X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(las hojas)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 Y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 de fusión: más alto = grupos más distintos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línea horizontal cruza tantas ramas como clústeres quieras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 un salto grande entre una fusión y la siguiente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pPr indent="0" marL="0">
              <a:buNone/>
            </a:pP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Estandarizar antes de medir distancias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experimento: agrupar con y sin StandardScaler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 0.14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2286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estandarizar salen segmentos casi sin relación con los correctos (1.0 = idénticos, 0 = azar). Durabilidad y Paquete dominan la distancia; Retorno casi no influye.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36118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83480" y="373989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6"/>
          <p:cNvSpPr/>
          <p:nvPr/>
        </p:nvSpPr>
        <p:spPr>
          <a:xfrm>
            <a:off x="5129784" y="373989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Shape 7"/>
          <p:cNvSpPr/>
          <p:nvPr/>
        </p:nvSpPr>
        <p:spPr>
          <a:xfrm>
            <a:off x="5276088" y="373989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32120" y="36850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formula.py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 − media) / desv_est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cada variable: media 0, desv. 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pPr indent="0" marL="0">
              <a:buNone/>
            </a:pP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¿Cuántos clústeres? k = 4 es una decisión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846320" y="1188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silueta ≈ 0.11</a:t>
            </a:r>
            <a:pPr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 cualquier k. Bajo 0.25 la estructura es débil: los grupos se traslapan.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21031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mayor salto está en </a:t>
            </a:r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3</a:t>
            </a:r>
            <a:pPr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Elegimos </a:t>
            </a:r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4</a:t>
            </a:r>
            <a:pPr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corte estable (altura 9.56), silueta igual a k = 3, grupos manejables (21, 24, 36 y 19 clientes) y perfiles interpretables.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3749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ningún k es óptimo matemático: combina métricas y utilidad de negocio.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pPr indent="0" marL="0">
              <a:buNone/>
            </a:pP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 de cada segmento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B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Veloc.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B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B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Durab.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B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Imagen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B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 educ.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B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Retorno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B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Paquete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B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Calidad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B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Estrellas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· Educativos bien valorados (21)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-0.18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-0.39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-0.48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D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1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-0.54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42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C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· Paquetes grandes, precio alto (24)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-0.43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-0.31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1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8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A0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-0.44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B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· Baja valoración general (36)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-0.35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4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-0.44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B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-0.33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2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-0.58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5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-0.90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CA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· Calidad y durabilidad (19)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A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D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-0.27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F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BE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9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Cian = por encima del promedio de todos los clientes; morado = por debajo. Las etiquetas son una lectura sugerida y los números de clúster son arbitrarios: pueden cambiar.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pPr indent="0" marL="0">
              <a:buNone/>
            </a:pP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PCA: un lente 2D, no el análisis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846320" y="1143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PC1 + PC2 explican </a:t>
            </a:r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36.1 %</a:t>
            </a:r>
            <a:pPr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El otro 63.9 % no aparece en el gráfico. Hacen falta 7 componentes para llegar al 80 %.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21031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clustering usa las </a:t>
            </a:r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variables</a:t>
            </a:r>
            <a:pPr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el PCA solo sirve para dibujar. Grupos encimados en 2D no prueban que estén mezclados en 9D.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846320" y="320040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83480" y="332841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Shape 5"/>
          <p:cNvSpPr/>
          <p:nvPr/>
        </p:nvSpPr>
        <p:spPr>
          <a:xfrm>
            <a:off x="5129784" y="332841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9" name="Shape 6"/>
          <p:cNvSpPr/>
          <p:nvPr/>
        </p:nvSpPr>
        <p:spPr>
          <a:xfrm>
            <a:off x="5276088" y="332841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32120" y="32735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cargas.py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3611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PC1  Estrellas .51 · Velocidad .49 · V. educativo .49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PC2  Paquete .52 · Precio .43 · Estrellas .43 · Durabilidad −.31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signo de un eje es arbitrario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pPr indent="0" marL="0">
              <a:buNone/>
            </a:pP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Recomendar, con límites y repaso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297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204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 afines se eligen por </a:t>
            </a:r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distancia real</a:t>
            </a:r>
            <a:pPr indent="0" marL="0"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dentro del clúster, no por el orden del Excel. La base tiene evaluaciones, no compras: el siguiente paso es cruzar con el historial.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846320" y="1143000"/>
            <a:ext cx="3840480" cy="3520440"/>
          </a:xfrm>
          <a:prstGeom prst="roundRect">
            <a:avLst>
              <a:gd name="adj" fmla="val 1558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83480" y="127101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4"/>
          <p:cNvSpPr/>
          <p:nvPr/>
        </p:nvSpPr>
        <p:spPr>
          <a:xfrm>
            <a:off x="5129784" y="127101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Shape 5"/>
          <p:cNvSpPr/>
          <p:nvPr/>
        </p:nvSpPr>
        <p:spPr>
          <a:xfrm>
            <a:off x="5276088" y="127101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32120" y="12161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repaso.py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55448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¿Por qué estandarizar?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distancia la dominarían las variables de mayor escala; sin escalar, ARI 0.14.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¿k = 4 es el óptimo?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El mayor salto está en k = 3 y la silueta es plana: es una decisión.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¿Cuánta información muestra el 2D?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36.1 % de la varianza: una vista parcial.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¿Cómo se asigna un cliente nuevo?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hay predict: se escala con el scaler ajustado y se toma el centroide más cercano.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26 · Clustering jerárquico y PCA</dc:title>
  <dc:subject>PptxGenJS Presentation</dc:subject>
  <dc:creator>PptxGenJS</dc:creator>
  <cp:lastModifiedBy>PptxGenJS</cp:lastModifiedBy>
  <cp:revision>1</cp:revision>
  <dcterms:created xsi:type="dcterms:W3CDTF">2026-09-28T20:11:23Z</dcterms:created>
  <dcterms:modified xsi:type="dcterms:W3CDTF">2026-09-28T20:11:23Z</dcterms:modified>
</cp:coreProperties>
</file>