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331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2">
            <a:extLst>
              <a:ext uri="{FF2B5EF4-FFF2-40B4-BE49-F238E27FC236}">
                <a16:creationId xmlns:a16="http://schemas.microsoft.com/office/drawing/2014/main" id="{EABB3EE7-07A0-3E9A-840A-0F429AFC130D}"/>
              </a:ext>
            </a:extLst>
          </p:cNvPr>
          <p:cNvSpPr>
            <a:spLocks/>
          </p:cNvSpPr>
          <p:nvPr/>
        </p:nvSpPr>
        <p:spPr>
          <a:xfrm>
            <a:off x="6211064" y="4017688"/>
            <a:ext cx="2469759" cy="442291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Shape 2">
            <a:extLst>
              <a:ext uri="{FF2B5EF4-FFF2-40B4-BE49-F238E27FC236}">
                <a16:creationId xmlns:a16="http://schemas.microsoft.com/office/drawing/2014/main" id="{4D4E6BAD-C60B-4DB3-BEB4-14388E233A00}"/>
              </a:ext>
            </a:extLst>
          </p:cNvPr>
          <p:cNvSpPr/>
          <p:nvPr/>
        </p:nvSpPr>
        <p:spPr>
          <a:xfrm>
            <a:off x="4477126" y="4017688"/>
            <a:ext cx="1405537" cy="442291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Shape 2">
            <a:extLst>
              <a:ext uri="{FF2B5EF4-FFF2-40B4-BE49-F238E27FC236}">
                <a16:creationId xmlns:a16="http://schemas.microsoft.com/office/drawing/2014/main" id="{E9CECB7C-8B05-53BD-2F30-25DCE8BBD8A3}"/>
              </a:ext>
            </a:extLst>
          </p:cNvPr>
          <p:cNvSpPr/>
          <p:nvPr/>
        </p:nvSpPr>
        <p:spPr>
          <a:xfrm>
            <a:off x="2427590" y="4020929"/>
            <a:ext cx="1405537" cy="442291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Shape 2">
            <a:extLst>
              <a:ext uri="{FF2B5EF4-FFF2-40B4-BE49-F238E27FC236}">
                <a16:creationId xmlns:a16="http://schemas.microsoft.com/office/drawing/2014/main" id="{8FB2498A-0A6D-E904-B517-85FE6F9D44CB}"/>
              </a:ext>
            </a:extLst>
          </p:cNvPr>
          <p:cNvSpPr/>
          <p:nvPr/>
        </p:nvSpPr>
        <p:spPr>
          <a:xfrm>
            <a:off x="381953" y="4013474"/>
            <a:ext cx="1405537" cy="442291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5090172" y="121086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437799" y="1443715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150426" y="1105069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142453" y="184084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413881" y="118215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050308" y="1597893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966135" y="1442127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5161362" y="153782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635990" y="106201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561217" y="1660631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5594644" y="1687745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5078671" y="114336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756498" y="249635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5799326" y="808969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207153" y="1841923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894380" y="148041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775407" y="137037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5107035" y="1511787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912622" y="2361861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5888649" y="3006196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058476" y="2256070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507703" y="1757405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6321931" y="2333159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415558" y="3160374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788585" y="25931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5612212" y="2277343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6544040" y="3035977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6840867" y="3223112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7417094" y="2838746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7358321" y="3528801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6664548" y="2824395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7164576" y="3194410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6115203" y="2992924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6259630" y="2219939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6683457" y="2521373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6472285" y="307426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7820672" y="1684062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7253899" y="1093957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6966526" y="1578271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7872953" y="668126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8144381" y="832400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7780808" y="1248135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8611035" y="1915329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6977462" y="2011024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7452090" y="153521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7" name="Shape 45"/>
          <p:cNvSpPr/>
          <p:nvPr/>
        </p:nvSpPr>
        <p:spPr>
          <a:xfrm>
            <a:off x="8206117" y="1310873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8325144" y="1337987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9" name="Shape 47"/>
          <p:cNvSpPr/>
          <p:nvPr/>
        </p:nvSpPr>
        <p:spPr>
          <a:xfrm>
            <a:off x="7809171" y="1616562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7572598" y="1323636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8529826" y="1282171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7937653" y="669205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3" name="Shape 51"/>
          <p:cNvSpPr/>
          <p:nvPr/>
        </p:nvSpPr>
        <p:spPr>
          <a:xfrm>
            <a:off x="8539280" y="1130660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7591507" y="1020614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7837535" y="1162029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5294376" y="1362456"/>
            <a:ext cx="201168" cy="201168"/>
          </a:xfrm>
          <a:prstGeom prst="ellipse">
            <a:avLst/>
          </a:prstGeom>
          <a:solidFill>
            <a:srgbClr val="DBE4FF"/>
          </a:solidFill>
          <a:ln w="317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6574536" y="2642616"/>
            <a:ext cx="201168" cy="201168"/>
          </a:xfrm>
          <a:prstGeom prst="ellipse">
            <a:avLst/>
          </a:prstGeom>
          <a:solidFill>
            <a:srgbClr val="DBE4FF"/>
          </a:solidFill>
          <a:ln w="317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7854696" y="1271016"/>
            <a:ext cx="201168" cy="201168"/>
          </a:xfrm>
          <a:prstGeom prst="ellipse">
            <a:avLst/>
          </a:prstGeom>
          <a:solidFill>
            <a:srgbClr val="DBE4FF"/>
          </a:solidFill>
          <a:ln w="317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 txBox="1"/>
          <p:nvPr/>
        </p:nvSpPr>
        <p:spPr>
          <a:xfrm>
            <a:off x="457200" y="685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Guía de estudio · Módulo 27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10058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algoritmo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</a:t>
            </a:r>
            <a:endParaRPr lang="en-US" sz="32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2514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notebook a la explicación: qué hace cada paso, cómo leer cada gráfica y qué errores evitar.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455483" y="4000140"/>
            <a:ext cx="60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endParaRPr lang="en-US" sz="2600" dirty="0"/>
          </a:p>
        </p:txBody>
      </p:sp>
      <p:sp>
        <p:nvSpPr>
          <p:cNvPr id="63" name="Text 61"/>
          <p:cNvSpPr txBox="1"/>
          <p:nvPr/>
        </p:nvSpPr>
        <p:spPr>
          <a:xfrm>
            <a:off x="1153066" y="4153239"/>
            <a:ext cx="730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flores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2558603" y="40001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600" dirty="0"/>
          </a:p>
        </p:txBody>
      </p:sp>
      <p:sp>
        <p:nvSpPr>
          <p:cNvPr id="65" name="Text 63"/>
          <p:cNvSpPr txBox="1"/>
          <p:nvPr/>
        </p:nvSpPr>
        <p:spPr>
          <a:xfrm>
            <a:off x="2879115" y="4153239"/>
            <a:ext cx="828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4661723" y="40001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67" name="Text 65"/>
          <p:cNvSpPr txBox="1"/>
          <p:nvPr/>
        </p:nvSpPr>
        <p:spPr>
          <a:xfrm>
            <a:off x="4958068" y="4149913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clústers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6292062" y="4013475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95.8 %</a:t>
            </a:r>
            <a:endParaRPr lang="en-US" sz="2600" dirty="0"/>
          </a:p>
        </p:txBody>
      </p:sp>
      <p:sp>
        <p:nvSpPr>
          <p:cNvPr id="69" name="Text 67"/>
          <p:cNvSpPr txBox="1"/>
          <p:nvPr/>
        </p:nvSpPr>
        <p:spPr>
          <a:xfrm>
            <a:off x="7518408" y="4156753"/>
            <a:ext cx="116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varianza en 2D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Mapa del notebook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Teoría en las diapositivas 3 y 4; después, un paso del notebook por diapositiva.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50876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274320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 por dentro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484632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Elegir k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50876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94944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Validar k = 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64008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Escalar y PCA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0" y="301752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274320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Agrupar en PCA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10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484632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Comparar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11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301752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 txBox="1"/>
          <p:nvPr/>
        </p:nvSpPr>
        <p:spPr>
          <a:xfrm>
            <a:off x="694944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Pro, glosario, repaso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diap. 12 a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Teoría 1 de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Algoritmo de Lloyd e inercia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22529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22529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22529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7043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algoritmo_lloyd.py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846320" y="122529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992624" y="122529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5138928" y="122529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5394960" y="117043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inercia_y_optimo_local.md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inicializar  </a:t>
            </a: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k-means++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eligen k centroides; k-means++ los reparte separados. La versión clásica los toma al azar.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asignar  </a:t>
            </a: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2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punto va al centroide más cercano (distancia euclidiana).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actualizar  </a:t>
            </a: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3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centroide pasa a ser el promedio de sus puntos. Se repite hasta que nada cambia.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inercia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 de distancias al cuadrado de cada punto a su centroide; es lo que K-Means minimiza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óptimo local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iteración mejora la inercia, pero puede quedar en una solución peor que la mejor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n_init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 varias inicializaciones y conserva la de menor inercia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Teoría 2 de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Elegir k y conocer los límites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22529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22529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22529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7043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elegir_k.py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846320" y="122529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992624" y="122529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5138928" y="122529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5394960" y="117043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supuestos.md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codo  </a:t>
            </a: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inercia vs k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inercia siempre baja al subir k; se busca dónde la mejora se modera. Lectura visual, a veces ambigua.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silueta  </a:t>
            </a: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 = (b - a) / max(a, b)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−1 a 1: cohesión del punto frente a la separación del clúster vecino. Favorece grupos compactos.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decisión  </a:t>
            </a: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hay k óptimo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 codo, silueta y criterio de dominio, y explica la elección.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clústers aproximadamente esféricos y de tamaño parecido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sensible a la escala de las variables y a los atípicos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fijo  </a:t>
            </a:r>
            <a:r>
              <a:rPr lang="en-US" sz="11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elige de antemano y el resultado depende de la inicialización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1 · datos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 y auditar Iris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celdas_1_a_3.py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pd.read_csv("iris.csv")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 la URL de Seaborn si no existe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= [c.replace(".", "_").lower() for c in df.columns]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X_raw = df.drop(columns="species")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y_real solo para evaluar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1074420"/>
          </a:xfrm>
          <a:prstGeom prst="roundRect">
            <a:avLst>
              <a:gd name="adj" fmla="val 510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85800" y="2377440"/>
            <a:ext cx="237744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 x 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377440"/>
            <a:ext cx="22860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flores x medidas (cm)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89020"/>
            <a:ext cx="5029200" cy="1074420"/>
          </a:xfrm>
          <a:prstGeom prst="roundRect">
            <a:avLst>
              <a:gd name="adj" fmla="val 5106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85800" y="3589020"/>
            <a:ext cx="237744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589020"/>
            <a:ext cx="22860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fila duplicada (normal en Iris)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 4 variables están en cm y en rangos comparables (0.1 a 7.9). La especie real no se usa para agrupar.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Agrupar usando la columna species: sería aprendizaje supervisado.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2 · por dentro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 desde cero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kmeans_desde_cero.py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centroides = X[rng.choice(len(X), size=k, replace=False)]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inicializar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etiquetas = dist.argmin(axis=1)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asignar al centroide más cercano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nuevos = [X[etiquetas == j].mean(axis=0) for j in range(k)]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actualizar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85800" y="237744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78.85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37744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mejor inercia (n_init = 10)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8516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85800" y="318516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145.45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18516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peor con init aleatoria y n_init =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9288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85800" y="399288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solución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99288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k-means++ en 30 semillas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inicialización aleatoria, algunas semillas terminan en inercia 142 a 145 en vez de 78.85. Con k-means++ las 30 semillas llegan a ≈ 78.85.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Reportar una sola ejecución aleatoria sin n_init.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3 · elegir 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Codo y silueta (datos originales)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celdas_6_a_8.py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= evaluar_k(X_raw, ks=range(2, 11))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inercia y silueta por k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silhouette_score(X, KMeans(k, n_init=10, random_state=42).fit_predict(X))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0" descr="Codo e índice de silueta por número de clúst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29683"/>
            <a:ext cx="4846320" cy="178151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Codo: inflexión en k = 3. Silueta: máximo en k = 2 (0.68); en k = 3 baja a 0.55. Con k = 2 se separa Setosa del resto.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Presentar k = 3 como "el óptimo": se eligió con codo, silueta y contexto (3 especies).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4 · validar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 con k = 3 y validación externa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celdas_9_y_10.py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etq_raw = KMeans(n_clusters=3, n_init=10, random_state=42).fit_predict(X_raw)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pd.crosstab(y_real, etq_raw)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validación externa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adjusted_rand_score(y_real, etq_raw)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0.73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85800" y="237744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 0.73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37744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vs. especie real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8516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85800" y="318516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18516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puntos fuera de su especie dominante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9288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85800" y="399288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 vs 0.50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99288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silueta: K-Means vs. especies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Setosa queda pura; el error está entre Versicolor y Virginica. La silueta de K-Means (0.55) supera a la de las especies reales (0.50).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Confundir silueta alta con coincidir con las clases, o interpretar el número de clúster (es arbitrario).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5 · escalar y PCA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 transformaciones distintas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celdas_11_y_12.py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StandardScaler().fit_transform(X_raw)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cambia el peso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 = PCA(n_components=2)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rota y descarta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X_pca = pca.fit_transform(X_scaled)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85800" y="237744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95.8 %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37744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varianza en 2 componentes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8516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85800" y="318516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73.0 %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18516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9288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85800" y="399288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22.9 %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99288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PC1 y PC2 conservan 95.8 %: el 2D es fiel. PC1 ≈ tamaño (largo de sépalo y pétalos); PC2 ≈ ancho del sépalo.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Aplicar escalado y PCA juntos y atribuir todo el cambio al PCA.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6 · agrupar en PCA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Repetir k y agrupar en 2D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celdas_13_y_14.py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res_pca = evaluar_k(X_pca)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silueta máx. en k = 2 (0.62); k = 3: 0.51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kmeans_pca = KMeans(n_clusters=3, n_init=10, random_state=42)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etq_pca = kmeans_pca.fit_predict(X_pca)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0" descr="Clústers de K-Means en PCA junto a las especies rea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97951"/>
            <a:ext cx="4846320" cy="2044979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Mismo patrón que con los datos originales. El gráfico compara los clústers (izquierda) con las especies reales (derecha).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Fijar k = 3 sin repetir codo y silueta en el espacio PCA.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7 · comparar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Comparación cuantitativa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celdas_15_y_16.py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etq_esc = KMeans(3, n_init=10, random_state=42).fit_predict(X_scaled)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PCA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adjusted_rand_score(etq_esc, etq_pca)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85800" y="237744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 → 0.62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37744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 vs. especie: originales → escalados o PCA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8516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85800" y="318516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18516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 entre escalados (4D) y PCA (2D)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9288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85800" y="399288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→ 25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99288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puntos fuera de su especie dominante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PCA de 2 componentes no cambió nada frente a solo estandarizar. La diferencia con la versión original viene de escalar.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Afirmar que el PCA limpia el ruido: aquí coincide menos con las especies (0.62 vs 0.73).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 Pro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con fit, predict y n_init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clase_pro.py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= KMeansRecommenderPro(n_clusters=3, use_pca=True).fit(X_raw)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modelo.predict(flor_nueva)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asigna clúster a datos nuevos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KMeans(n_clusters=3, n_init=10)   </a:t>
            </a:r>
            <a:r>
              <a:rPr lang="en-US" sz="10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n_init="auto" (1 ejecución)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85800" y="237744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115.02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37744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inercia con n_init = 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8516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85800" y="318516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166.04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18516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inercia con n_init = "auto"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92880"/>
            <a:ext cx="5029200" cy="670560"/>
          </a:xfrm>
          <a:prstGeom prst="roundRect">
            <a:avLst>
              <a:gd name="adj" fmla="val 8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85800" y="3992880"/>
            <a:ext cx="2377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 0.43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99288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asignaciones vs. análisis manual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leerlo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pipeline reproduce el análisis manual (ARI 1.0) y puede asignar flores nuevas.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común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n_init="auto" hace una sola ejecución: inercia 166.04 en vez de 115.02 y ARI 0.43 contra el análisis manual.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Glosario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Centroide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 de los puntos de un clúster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Inercia (WCSS)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 de distancias al cuadrado a los centroides; lo que K-Means minimiza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k-means++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inicialización que reparte los centroides iniciales de forma separada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n_init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número de inicializaciones; se conserva la de menor inercia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Óptimo local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solución que no mejora con cambios pequeños, pero no es la mejor posible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70916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Codo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gráfico de inercia vs. k; se busca donde la mejora se modera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Silueta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−1 a 1: qué tan bien encaja un punto en su clúster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= agrupaciones idénticas; 0 = azar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Estandarización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0 y desviación 1 por variable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secuencia de transformaciones y modelo aplicada igual a datos nuevos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400" b="1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Repaso y ejercicios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514600"/>
          </a:xfrm>
          <a:prstGeom prst="roundRect">
            <a:avLst>
              <a:gd name="adj" fmla="val 2182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" y="11795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0664" y="117957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86968" y="117957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1143000" y="112471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repaso.py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63040"/>
            <a:ext cx="7863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¿Qué minimiza K-Means?  </a:t>
            </a: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inercia: suma de distancias al cuadrado de cada punto a su centroide.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¿Por qué usar n_init mayor que 1?  </a:t>
            </a: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ejecución puede quedar en un óptimo local; se conserva la de menor inercia.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¿Por qué la silueta prefiere k = 2 en Iris?  </a:t>
            </a: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Versicolor y Virginica se traslapan: hay dos bloques bien separados.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¿El PCA mejoró la agrupación?  </a:t>
            </a: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No: con 2 componentes da lo mismo que solo estandarizar (ARI 1.0).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¿Qué pasa con n_init="auto"?  </a:t>
            </a:r>
            <a:r>
              <a:rPr lang="en-US" sz="105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Hace una sola ejecución: puede dar una solución peor y distinta a la de n_init = 10.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101A3A"/>
          </a:solidFill>
          <a:ln w="12700">
            <a:solidFill>
              <a:srgbClr val="2535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94360" y="378561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740664" y="3785616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886968" y="3785616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1143000" y="373075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9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ejercicios.md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Repite con k = 2 y k = 4: ¿qué clúster se divide?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Corre kmeans_desde_cero con 100 semillas: ¿qué porcentaje llega a 78.85?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DB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Agrupa solo con petal_length y petal_width y compara el ARI.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1850</Words>
  <Application>Microsoft Office PowerPoint</Application>
  <PresentationFormat>Presentación en pantalla (16:9)</PresentationFormat>
  <Paragraphs>230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27 · Guía de estudio K-Means</dc:title>
  <dc:subject>PptxGenJS Presentation</dc:subject>
  <dc:creator>PptxGenJS</dc:creator>
  <cp:lastModifiedBy>Eliuth Misraim Rojas Villavicencio</cp:lastModifiedBy>
  <cp:revision>3</cp:revision>
  <dcterms:created xsi:type="dcterms:W3CDTF">2026-09-30T20:10:34Z</dcterms:created>
  <dcterms:modified xsi:type="dcterms:W3CDTF">2026-09-30T20:16:14Z</dcterms:modified>
</cp:coreProperties>
</file>